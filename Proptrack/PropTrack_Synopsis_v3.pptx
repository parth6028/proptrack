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mn-lt"/>
              </a:defRPr>
            </a:pPr>
            <a:r>
              <a:rPr sz="1200" b="0" i="0" u="none" strike="noStrike">
                <a:solidFill>
                  <a:srgbClr val="000000"/>
                </a:solidFill>
                <a:latin typeface="+mn-lt"/>
              </a:rPr>
              <a:t>Status certainty factor C(stage)</a:t>
            </a:r>
          </a:p>
        </c:rich>
      </c:tx>
      <c:layout/>
      <c:overlay val="0"/>
    </c:title>
    <c:autoTitleDeleted val="0"/>
    <c:plotArea>
      <c:layout/>
      <c:barChart>
        <c:barDir val="col"/>
        <c:grouping val="clustered"/>
        <c:varyColors val="0"/>
        <c:ser>
          <c:idx val="0"/>
          <c:order val="0"/>
          <c:tx>
            <c:strRef>
              <c:f>Sheet1!$B$1</c:f>
              <c:strCache>
                <c:ptCount val="1"/>
                <c:pt idx="0">
                  <c:v>Certainty</c:v>
                </c:pt>
              </c:strCache>
            </c:strRef>
          </c:tx>
          <c:spPr>
            <a:solidFill>
              <a:srgbClr val="3B5BA5"/>
            </a:solidFill>
            <a:effectLst/>
          </c:spPr>
          <c:invertIfNegative val="0"/>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Proposed</c:v>
                  </c:pt>
                  <c:pt idx="1">
                    <c:v>Approved</c:v>
                  </c:pt>
                  <c:pt idx="2">
                    <c:v>Funded</c:v>
                  </c:pt>
                  <c:pt idx="3">
                    <c:v>Building</c:v>
                  </c:pt>
                  <c:pt idx="4">
                    <c:v>Done</c:v>
                  </c:pt>
                </c:lvl>
              </c:multiLvlStrCache>
            </c:multiLvlStrRef>
          </c:cat>
          <c:val>
            <c:numRef>
              <c:f>Sheet1!$B$2:$B$6</c:f>
              <c:numCache>
                <c:formatCode>General</c:formatCode>
                <c:ptCount val="5"/>
                <c:pt idx="0">
                  <c:v>0.2</c:v>
                </c:pt>
                <c:pt idx="1">
                  <c:v>0.4</c:v>
                </c:pt>
                <c:pt idx="2">
                  <c:v>0.7</c:v>
                </c:pt>
                <c:pt idx="3">
                  <c:v>0.9</c:v>
                </c:pt>
                <c:pt idx="4">
                  <c:v>1</c:v>
                </c:pt>
              </c:numCache>
            </c:numRef>
          </c:val>
        </c:ser>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CD5C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60720" y="685800"/>
            <a:ext cx="475488" cy="475488"/>
          </a:xfrm>
          <a:prstGeom prst="roundRect">
            <a:avLst>
              <a:gd name="adj" fmla="val 26923"/>
            </a:avLst>
          </a:prstGeom>
          <a:solidFill>
            <a:srgbClr val="2C3A5E"/>
          </a:solidFill>
          <a:ln/>
        </p:spPr>
      </p:sp>
      <p:sp>
        <p:nvSpPr>
          <p:cNvPr id="3" name="Shape 1"/>
          <p:cNvSpPr/>
          <p:nvPr/>
        </p:nvSpPr>
        <p:spPr>
          <a:xfrm>
            <a:off x="5760720" y="1216152"/>
            <a:ext cx="475488" cy="475488"/>
          </a:xfrm>
          <a:prstGeom prst="roundRect">
            <a:avLst>
              <a:gd name="adj" fmla="val 26923"/>
            </a:avLst>
          </a:prstGeom>
          <a:solidFill>
            <a:srgbClr val="7C93D6"/>
          </a:solidFill>
          <a:ln/>
        </p:spPr>
      </p:sp>
      <p:sp>
        <p:nvSpPr>
          <p:cNvPr id="4" name="Shape 2"/>
          <p:cNvSpPr/>
          <p:nvPr/>
        </p:nvSpPr>
        <p:spPr>
          <a:xfrm>
            <a:off x="5760720" y="1746504"/>
            <a:ext cx="475488" cy="475488"/>
          </a:xfrm>
          <a:prstGeom prst="roundRect">
            <a:avLst>
              <a:gd name="adj" fmla="val 26923"/>
            </a:avLst>
          </a:prstGeom>
          <a:solidFill>
            <a:srgbClr val="E4572E"/>
          </a:solidFill>
          <a:ln/>
        </p:spPr>
      </p:sp>
      <p:sp>
        <p:nvSpPr>
          <p:cNvPr id="5" name="Shape 3"/>
          <p:cNvSpPr/>
          <p:nvPr/>
        </p:nvSpPr>
        <p:spPr>
          <a:xfrm>
            <a:off x="5760720" y="2276856"/>
            <a:ext cx="475488" cy="475488"/>
          </a:xfrm>
          <a:prstGeom prst="roundRect">
            <a:avLst>
              <a:gd name="adj" fmla="val 26923"/>
            </a:avLst>
          </a:prstGeom>
          <a:solidFill>
            <a:srgbClr val="3B5BA5"/>
          </a:solidFill>
          <a:ln/>
        </p:spPr>
      </p:sp>
      <p:sp>
        <p:nvSpPr>
          <p:cNvPr id="6" name="Shape 4"/>
          <p:cNvSpPr/>
          <p:nvPr/>
        </p:nvSpPr>
        <p:spPr>
          <a:xfrm>
            <a:off x="5760720" y="2807208"/>
            <a:ext cx="475488" cy="475488"/>
          </a:xfrm>
          <a:prstGeom prst="roundRect">
            <a:avLst>
              <a:gd name="adj" fmla="val 26923"/>
            </a:avLst>
          </a:prstGeom>
          <a:solidFill>
            <a:srgbClr val="F2A541"/>
          </a:solidFill>
          <a:ln/>
        </p:spPr>
      </p:sp>
      <p:sp>
        <p:nvSpPr>
          <p:cNvPr id="7" name="Shape 5"/>
          <p:cNvSpPr/>
          <p:nvPr/>
        </p:nvSpPr>
        <p:spPr>
          <a:xfrm>
            <a:off x="6291072" y="685800"/>
            <a:ext cx="475488" cy="475488"/>
          </a:xfrm>
          <a:prstGeom prst="roundRect">
            <a:avLst>
              <a:gd name="adj" fmla="val 26923"/>
            </a:avLst>
          </a:prstGeom>
          <a:solidFill>
            <a:srgbClr val="F2A541"/>
          </a:solidFill>
          <a:ln/>
        </p:spPr>
      </p:sp>
      <p:sp>
        <p:nvSpPr>
          <p:cNvPr id="8" name="Shape 6"/>
          <p:cNvSpPr/>
          <p:nvPr/>
        </p:nvSpPr>
        <p:spPr>
          <a:xfrm>
            <a:off x="6291072" y="1216152"/>
            <a:ext cx="475488" cy="475488"/>
          </a:xfrm>
          <a:prstGeom prst="roundRect">
            <a:avLst>
              <a:gd name="adj" fmla="val 26923"/>
            </a:avLst>
          </a:prstGeom>
          <a:solidFill>
            <a:srgbClr val="3B5BA5"/>
          </a:solidFill>
          <a:ln/>
        </p:spPr>
      </p:sp>
      <p:sp>
        <p:nvSpPr>
          <p:cNvPr id="9" name="Shape 7"/>
          <p:cNvSpPr/>
          <p:nvPr/>
        </p:nvSpPr>
        <p:spPr>
          <a:xfrm>
            <a:off x="6291072" y="1746504"/>
            <a:ext cx="475488" cy="475488"/>
          </a:xfrm>
          <a:prstGeom prst="roundRect">
            <a:avLst>
              <a:gd name="adj" fmla="val 26923"/>
            </a:avLst>
          </a:prstGeom>
          <a:solidFill>
            <a:srgbClr val="E4572E"/>
          </a:solidFill>
          <a:ln/>
        </p:spPr>
      </p:sp>
      <p:sp>
        <p:nvSpPr>
          <p:cNvPr id="10" name="Shape 8"/>
          <p:cNvSpPr/>
          <p:nvPr/>
        </p:nvSpPr>
        <p:spPr>
          <a:xfrm>
            <a:off x="6291072" y="2276856"/>
            <a:ext cx="475488" cy="475488"/>
          </a:xfrm>
          <a:prstGeom prst="roundRect">
            <a:avLst>
              <a:gd name="adj" fmla="val 26923"/>
            </a:avLst>
          </a:prstGeom>
          <a:solidFill>
            <a:srgbClr val="7C93D6"/>
          </a:solidFill>
          <a:ln/>
        </p:spPr>
      </p:sp>
      <p:sp>
        <p:nvSpPr>
          <p:cNvPr id="11" name="Shape 9"/>
          <p:cNvSpPr/>
          <p:nvPr/>
        </p:nvSpPr>
        <p:spPr>
          <a:xfrm>
            <a:off x="6291072" y="2807208"/>
            <a:ext cx="475488" cy="475488"/>
          </a:xfrm>
          <a:prstGeom prst="roundRect">
            <a:avLst>
              <a:gd name="adj" fmla="val 26923"/>
            </a:avLst>
          </a:prstGeom>
          <a:solidFill>
            <a:srgbClr val="2C3A5E"/>
          </a:solidFill>
          <a:ln/>
        </p:spPr>
      </p:sp>
      <p:sp>
        <p:nvSpPr>
          <p:cNvPr id="12" name="Shape 10"/>
          <p:cNvSpPr/>
          <p:nvPr/>
        </p:nvSpPr>
        <p:spPr>
          <a:xfrm>
            <a:off x="6821424" y="685800"/>
            <a:ext cx="475488" cy="475488"/>
          </a:xfrm>
          <a:prstGeom prst="roundRect">
            <a:avLst>
              <a:gd name="adj" fmla="val 26923"/>
            </a:avLst>
          </a:prstGeom>
          <a:solidFill>
            <a:srgbClr val="3B5BA5"/>
          </a:solidFill>
          <a:ln/>
        </p:spPr>
      </p:sp>
      <p:sp>
        <p:nvSpPr>
          <p:cNvPr id="13" name="Shape 11"/>
          <p:cNvSpPr/>
          <p:nvPr/>
        </p:nvSpPr>
        <p:spPr>
          <a:xfrm>
            <a:off x="6821424" y="1216152"/>
            <a:ext cx="475488" cy="475488"/>
          </a:xfrm>
          <a:prstGeom prst="roundRect">
            <a:avLst>
              <a:gd name="adj" fmla="val 26923"/>
            </a:avLst>
          </a:prstGeom>
          <a:solidFill>
            <a:srgbClr val="2C3A5E"/>
          </a:solidFill>
          <a:ln/>
        </p:spPr>
      </p:sp>
      <p:sp>
        <p:nvSpPr>
          <p:cNvPr id="14" name="Shape 12"/>
          <p:cNvSpPr/>
          <p:nvPr/>
        </p:nvSpPr>
        <p:spPr>
          <a:xfrm>
            <a:off x="6821424" y="1746504"/>
            <a:ext cx="475488" cy="475488"/>
          </a:xfrm>
          <a:prstGeom prst="roundRect">
            <a:avLst>
              <a:gd name="adj" fmla="val 26923"/>
            </a:avLst>
          </a:prstGeom>
          <a:solidFill>
            <a:srgbClr val="E4572E"/>
          </a:solidFill>
          <a:ln/>
        </p:spPr>
      </p:sp>
      <p:sp>
        <p:nvSpPr>
          <p:cNvPr id="15" name="Shape 13"/>
          <p:cNvSpPr/>
          <p:nvPr/>
        </p:nvSpPr>
        <p:spPr>
          <a:xfrm>
            <a:off x="6821424" y="2276856"/>
            <a:ext cx="475488" cy="475488"/>
          </a:xfrm>
          <a:prstGeom prst="roundRect">
            <a:avLst>
              <a:gd name="adj" fmla="val 26923"/>
            </a:avLst>
          </a:prstGeom>
          <a:solidFill>
            <a:srgbClr val="F2A541"/>
          </a:solidFill>
          <a:ln/>
        </p:spPr>
      </p:sp>
      <p:sp>
        <p:nvSpPr>
          <p:cNvPr id="16" name="Shape 14"/>
          <p:cNvSpPr/>
          <p:nvPr/>
        </p:nvSpPr>
        <p:spPr>
          <a:xfrm>
            <a:off x="6821424" y="2807208"/>
            <a:ext cx="475488" cy="475488"/>
          </a:xfrm>
          <a:prstGeom prst="roundRect">
            <a:avLst>
              <a:gd name="adj" fmla="val 26923"/>
            </a:avLst>
          </a:prstGeom>
          <a:solidFill>
            <a:srgbClr val="7C93D6"/>
          </a:solidFill>
          <a:ln/>
        </p:spPr>
      </p:sp>
      <p:sp>
        <p:nvSpPr>
          <p:cNvPr id="17" name="Shape 15"/>
          <p:cNvSpPr/>
          <p:nvPr/>
        </p:nvSpPr>
        <p:spPr>
          <a:xfrm>
            <a:off x="7351776" y="685800"/>
            <a:ext cx="475488" cy="475488"/>
          </a:xfrm>
          <a:prstGeom prst="roundRect">
            <a:avLst>
              <a:gd name="adj" fmla="val 26923"/>
            </a:avLst>
          </a:prstGeom>
          <a:solidFill>
            <a:srgbClr val="E4572E"/>
          </a:solidFill>
          <a:ln/>
        </p:spPr>
      </p:sp>
      <p:sp>
        <p:nvSpPr>
          <p:cNvPr id="18" name="Shape 16"/>
          <p:cNvSpPr/>
          <p:nvPr/>
        </p:nvSpPr>
        <p:spPr>
          <a:xfrm>
            <a:off x="7351776" y="1216152"/>
            <a:ext cx="475488" cy="475488"/>
          </a:xfrm>
          <a:prstGeom prst="roundRect">
            <a:avLst>
              <a:gd name="adj" fmla="val 26923"/>
            </a:avLst>
          </a:prstGeom>
          <a:solidFill>
            <a:srgbClr val="E4572E"/>
          </a:solidFill>
          <a:ln/>
        </p:spPr>
      </p:sp>
      <p:sp>
        <p:nvSpPr>
          <p:cNvPr id="19" name="Shape 17"/>
          <p:cNvSpPr/>
          <p:nvPr/>
        </p:nvSpPr>
        <p:spPr>
          <a:xfrm>
            <a:off x="7351776" y="1746504"/>
            <a:ext cx="475488" cy="475488"/>
          </a:xfrm>
          <a:prstGeom prst="roundRect">
            <a:avLst>
              <a:gd name="adj" fmla="val 26923"/>
            </a:avLst>
          </a:prstGeom>
          <a:solidFill>
            <a:srgbClr val="E4572E"/>
          </a:solidFill>
          <a:ln/>
        </p:spPr>
      </p:sp>
      <p:sp>
        <p:nvSpPr>
          <p:cNvPr id="20" name="Shape 18"/>
          <p:cNvSpPr/>
          <p:nvPr/>
        </p:nvSpPr>
        <p:spPr>
          <a:xfrm>
            <a:off x="7351776" y="2276856"/>
            <a:ext cx="475488" cy="475488"/>
          </a:xfrm>
          <a:prstGeom prst="roundRect">
            <a:avLst>
              <a:gd name="adj" fmla="val 26923"/>
            </a:avLst>
          </a:prstGeom>
          <a:solidFill>
            <a:srgbClr val="E4572E"/>
          </a:solidFill>
          <a:ln/>
        </p:spPr>
      </p:sp>
      <p:sp>
        <p:nvSpPr>
          <p:cNvPr id="21" name="Shape 19"/>
          <p:cNvSpPr/>
          <p:nvPr/>
        </p:nvSpPr>
        <p:spPr>
          <a:xfrm>
            <a:off x="7351776" y="2807208"/>
            <a:ext cx="475488" cy="475488"/>
          </a:xfrm>
          <a:prstGeom prst="roundRect">
            <a:avLst>
              <a:gd name="adj" fmla="val 26923"/>
            </a:avLst>
          </a:prstGeom>
          <a:solidFill>
            <a:srgbClr val="E4572E"/>
          </a:solidFill>
          <a:ln/>
        </p:spPr>
      </p:sp>
      <p:sp>
        <p:nvSpPr>
          <p:cNvPr id="22" name="Shape 20"/>
          <p:cNvSpPr/>
          <p:nvPr/>
        </p:nvSpPr>
        <p:spPr>
          <a:xfrm>
            <a:off x="7882128" y="685800"/>
            <a:ext cx="475488" cy="475488"/>
          </a:xfrm>
          <a:prstGeom prst="roundRect">
            <a:avLst>
              <a:gd name="adj" fmla="val 26923"/>
            </a:avLst>
          </a:prstGeom>
          <a:solidFill>
            <a:srgbClr val="7C93D6"/>
          </a:solidFill>
          <a:ln/>
        </p:spPr>
      </p:sp>
      <p:sp>
        <p:nvSpPr>
          <p:cNvPr id="23" name="Shape 21"/>
          <p:cNvSpPr/>
          <p:nvPr/>
        </p:nvSpPr>
        <p:spPr>
          <a:xfrm>
            <a:off x="7882128" y="1216152"/>
            <a:ext cx="475488" cy="475488"/>
          </a:xfrm>
          <a:prstGeom prst="roundRect">
            <a:avLst>
              <a:gd name="adj" fmla="val 26923"/>
            </a:avLst>
          </a:prstGeom>
          <a:solidFill>
            <a:srgbClr val="F2A541"/>
          </a:solidFill>
          <a:ln/>
        </p:spPr>
      </p:sp>
      <p:sp>
        <p:nvSpPr>
          <p:cNvPr id="24" name="Shape 22"/>
          <p:cNvSpPr/>
          <p:nvPr/>
        </p:nvSpPr>
        <p:spPr>
          <a:xfrm>
            <a:off x="7882128" y="1746504"/>
            <a:ext cx="475488" cy="475488"/>
          </a:xfrm>
          <a:prstGeom prst="roundRect">
            <a:avLst>
              <a:gd name="adj" fmla="val 26923"/>
            </a:avLst>
          </a:prstGeom>
          <a:solidFill>
            <a:srgbClr val="E4572E"/>
          </a:solidFill>
          <a:ln/>
        </p:spPr>
      </p:sp>
      <p:sp>
        <p:nvSpPr>
          <p:cNvPr id="25" name="Shape 23"/>
          <p:cNvSpPr/>
          <p:nvPr/>
        </p:nvSpPr>
        <p:spPr>
          <a:xfrm>
            <a:off x="7882128" y="2276856"/>
            <a:ext cx="475488" cy="475488"/>
          </a:xfrm>
          <a:prstGeom prst="roundRect">
            <a:avLst>
              <a:gd name="adj" fmla="val 26923"/>
            </a:avLst>
          </a:prstGeom>
          <a:solidFill>
            <a:srgbClr val="2C3A5E"/>
          </a:solidFill>
          <a:ln/>
        </p:spPr>
      </p:sp>
      <p:sp>
        <p:nvSpPr>
          <p:cNvPr id="26" name="Shape 24"/>
          <p:cNvSpPr/>
          <p:nvPr/>
        </p:nvSpPr>
        <p:spPr>
          <a:xfrm>
            <a:off x="7882128" y="2807208"/>
            <a:ext cx="475488" cy="475488"/>
          </a:xfrm>
          <a:prstGeom prst="roundRect">
            <a:avLst>
              <a:gd name="adj" fmla="val 26923"/>
            </a:avLst>
          </a:prstGeom>
          <a:solidFill>
            <a:srgbClr val="3B5BA5"/>
          </a:solidFill>
          <a:ln/>
        </p:spPr>
      </p:sp>
      <p:sp>
        <p:nvSpPr>
          <p:cNvPr id="27" name="Shape 25"/>
          <p:cNvSpPr/>
          <p:nvPr/>
        </p:nvSpPr>
        <p:spPr>
          <a:xfrm>
            <a:off x="8412480" y="685800"/>
            <a:ext cx="475488" cy="475488"/>
          </a:xfrm>
          <a:prstGeom prst="roundRect">
            <a:avLst>
              <a:gd name="adj" fmla="val 26923"/>
            </a:avLst>
          </a:prstGeom>
          <a:solidFill>
            <a:srgbClr val="2C3A5E"/>
          </a:solidFill>
          <a:ln/>
        </p:spPr>
      </p:sp>
      <p:sp>
        <p:nvSpPr>
          <p:cNvPr id="28" name="Shape 26"/>
          <p:cNvSpPr/>
          <p:nvPr/>
        </p:nvSpPr>
        <p:spPr>
          <a:xfrm>
            <a:off x="8412480" y="1216152"/>
            <a:ext cx="475488" cy="475488"/>
          </a:xfrm>
          <a:prstGeom prst="roundRect">
            <a:avLst>
              <a:gd name="adj" fmla="val 26923"/>
            </a:avLst>
          </a:prstGeom>
          <a:solidFill>
            <a:srgbClr val="7C93D6"/>
          </a:solidFill>
          <a:ln/>
        </p:spPr>
      </p:sp>
      <p:sp>
        <p:nvSpPr>
          <p:cNvPr id="29" name="Shape 27"/>
          <p:cNvSpPr/>
          <p:nvPr/>
        </p:nvSpPr>
        <p:spPr>
          <a:xfrm>
            <a:off x="8412480" y="1746504"/>
            <a:ext cx="475488" cy="475488"/>
          </a:xfrm>
          <a:prstGeom prst="roundRect">
            <a:avLst>
              <a:gd name="adj" fmla="val 26923"/>
            </a:avLst>
          </a:prstGeom>
          <a:solidFill>
            <a:srgbClr val="E4572E"/>
          </a:solidFill>
          <a:ln/>
        </p:spPr>
      </p:sp>
      <p:sp>
        <p:nvSpPr>
          <p:cNvPr id="30" name="Shape 28"/>
          <p:cNvSpPr/>
          <p:nvPr/>
        </p:nvSpPr>
        <p:spPr>
          <a:xfrm>
            <a:off x="8412480" y="2276856"/>
            <a:ext cx="475488" cy="475488"/>
          </a:xfrm>
          <a:prstGeom prst="roundRect">
            <a:avLst>
              <a:gd name="adj" fmla="val 26923"/>
            </a:avLst>
          </a:prstGeom>
          <a:solidFill>
            <a:srgbClr val="3B5BA5"/>
          </a:solidFill>
          <a:ln/>
        </p:spPr>
      </p:sp>
      <p:sp>
        <p:nvSpPr>
          <p:cNvPr id="31" name="Shape 29"/>
          <p:cNvSpPr/>
          <p:nvPr/>
        </p:nvSpPr>
        <p:spPr>
          <a:xfrm>
            <a:off x="8412480" y="2807208"/>
            <a:ext cx="475488" cy="475488"/>
          </a:xfrm>
          <a:prstGeom prst="roundRect">
            <a:avLst>
              <a:gd name="adj" fmla="val 26923"/>
            </a:avLst>
          </a:prstGeom>
          <a:solidFill>
            <a:srgbClr val="F2A541"/>
          </a:solidFill>
          <a:ln/>
        </p:spPr>
      </p:sp>
      <p:sp>
        <p:nvSpPr>
          <p:cNvPr id="32" name="Text 30"/>
          <p:cNvSpPr txBox="1"/>
          <p:nvPr/>
        </p:nvSpPr>
        <p:spPr>
          <a:xfrm>
            <a:off x="457200" y="365760"/>
            <a:ext cx="5120640" cy="457200"/>
          </a:xfrm>
          <a:prstGeom prst="rect">
            <a:avLst/>
          </a:prstGeom>
          <a:noFill/>
          <a:ln/>
        </p:spPr>
        <p:txBody>
          <a:bodyPr wrap="square" lIns="0" tIns="0" rIns="0" bIns="0" rtlCol="0" anchor="t"/>
          <a:lstStyle/>
          <a:p>
            <a:pPr indent="0" marL="0">
              <a:buNone/>
            </a:pPr>
            <a:r>
              <a:rPr lang="en-US" sz="1000" b="1" dirty="0">
                <a:solidFill>
                  <a:srgbClr val="C9D3EC"/>
                </a:solidFill>
              </a:rPr>
              <a:t>WALCHAND COLLEGE OF ENGINEERING, SANGLI  |  DEPT. OF COMPUTER SCIENCE &amp; ENGINEERING</a:t>
            </a:r>
            <a:endParaRPr lang="en-US" sz="1000" dirty="0"/>
          </a:p>
        </p:txBody>
      </p:sp>
      <p:sp>
        <p:nvSpPr>
          <p:cNvPr id="33" name="Text 31"/>
          <p:cNvSpPr txBox="1"/>
          <p:nvPr/>
        </p:nvSpPr>
        <p:spPr>
          <a:xfrm>
            <a:off x="457200" y="1143000"/>
            <a:ext cx="5120640" cy="822960"/>
          </a:xfrm>
          <a:prstGeom prst="rect">
            <a:avLst/>
          </a:prstGeom>
          <a:noFill/>
          <a:ln/>
        </p:spPr>
        <p:txBody>
          <a:bodyPr wrap="square" lIns="0" tIns="0" rIns="0" bIns="0" rtlCol="0" anchor="t"/>
          <a:lstStyle/>
          <a:p>
            <a:pPr indent="0" marL="0">
              <a:buNone/>
            </a:pPr>
            <a:r>
              <a:rPr lang="en-US" sz="4600" b="1" dirty="0">
                <a:solidFill>
                  <a:srgbClr val="FFFFFF"/>
                </a:solidFill>
                <a:latin typeface="Georgia" pitchFamily="34" charset="0"/>
                <a:ea typeface="Georgia" pitchFamily="34" charset="-122"/>
                <a:cs typeface="Georgia" pitchFamily="34" charset="-120"/>
              </a:rPr>
              <a:t>PropTrack</a:t>
            </a:r>
            <a:endParaRPr lang="en-US" sz="4600" dirty="0"/>
          </a:p>
        </p:txBody>
      </p:sp>
      <p:sp>
        <p:nvSpPr>
          <p:cNvPr id="34" name="Text 32"/>
          <p:cNvSpPr txBox="1"/>
          <p:nvPr/>
        </p:nvSpPr>
        <p:spPr>
          <a:xfrm>
            <a:off x="457200" y="1965960"/>
            <a:ext cx="5029200" cy="731520"/>
          </a:xfrm>
          <a:prstGeom prst="rect">
            <a:avLst/>
          </a:prstGeom>
          <a:noFill/>
          <a:ln/>
        </p:spPr>
        <p:txBody>
          <a:bodyPr wrap="square" lIns="0" tIns="0" rIns="0" bIns="0" rtlCol="0" anchor="t"/>
          <a:lstStyle/>
          <a:p>
            <a:pPr indent="0" marL="0">
              <a:buNone/>
            </a:pPr>
            <a:r>
              <a:rPr lang="en-US" sz="1800" dirty="0">
                <a:solidFill>
                  <a:srgbClr val="F2A541"/>
                </a:solidFill>
              </a:rPr>
              <a:t>Development-Linked Property Outlook for Sangli</a:t>
            </a:r>
            <a:endParaRPr lang="en-US" sz="1800" dirty="0"/>
          </a:p>
        </p:txBody>
      </p:sp>
      <p:sp>
        <p:nvSpPr>
          <p:cNvPr id="35" name="Text 33"/>
          <p:cNvSpPr txBox="1"/>
          <p:nvPr/>
        </p:nvSpPr>
        <p:spPr>
          <a:xfrm>
            <a:off x="457200" y="2743200"/>
            <a:ext cx="5029200" cy="274320"/>
          </a:xfrm>
          <a:prstGeom prst="rect">
            <a:avLst/>
          </a:prstGeom>
          <a:noFill/>
          <a:ln/>
        </p:spPr>
        <p:txBody>
          <a:bodyPr wrap="square" lIns="0" tIns="0" rIns="0" bIns="0" rtlCol="0" anchor="t"/>
          <a:lstStyle/>
          <a:p>
            <a:pPr indent="0" marL="0">
              <a:buNone/>
            </a:pPr>
            <a:r>
              <a:rPr lang="en-US" sz="1200" dirty="0">
                <a:solidFill>
                  <a:srgbClr val="DCE3F5"/>
                </a:solidFill>
              </a:rPr>
              <a:t>Mini Project Synopsis  ·  2026-27</a:t>
            </a:r>
            <a:endParaRPr lang="en-US" sz="1200" dirty="0"/>
          </a:p>
        </p:txBody>
      </p:sp>
      <p:sp>
        <p:nvSpPr>
          <p:cNvPr id="36" name="Text 34"/>
          <p:cNvSpPr txBox="1"/>
          <p:nvPr/>
        </p:nvSpPr>
        <p:spPr>
          <a:xfrm>
            <a:off x="457200" y="3474720"/>
            <a:ext cx="8229600" cy="822960"/>
          </a:xfrm>
          <a:prstGeom prst="rect">
            <a:avLst/>
          </a:prstGeom>
          <a:noFill/>
          <a:ln/>
        </p:spPr>
        <p:txBody>
          <a:bodyPr wrap="square" lIns="0" tIns="0" rIns="0" bIns="0" rtlCol="0" anchor="t"/>
          <a:lstStyle/>
          <a:p>
            <a:pPr indent="0" marL="0">
              <a:spcAft>
                <a:spcPts val="400"/>
              </a:spcAft>
              <a:buNone/>
            </a:pPr>
            <a:r>
              <a:rPr lang="en-US" sz="1100" b="1" dirty="0">
                <a:solidFill>
                  <a:srgbClr val="FFFFFF"/>
                </a:solidFill>
              </a:rPr>
              <a:t>Team: </a:t>
            </a:r>
            <a:pPr indent="0" marL="0">
              <a:spcAft>
                <a:spcPts val="400"/>
              </a:spcAft>
              <a:buNone/>
            </a:pPr>
            <a:r>
              <a:rPr lang="en-US" sz="1100" dirty="0">
                <a:solidFill>
                  <a:srgbClr val="FFFFFF"/>
                </a:solidFill>
              </a:rPr>
              <a:t>Parth Nerkar (23510097), Navjot Singh (23510122), Rakshit Gawde (23510055)</a:t>
            </a:r>
            <a:endParaRPr lang="en-US" sz="1100" dirty="0"/>
          </a:p>
          <a:p>
            <a:pPr indent="0" marL="0">
              <a:spcAft>
                <a:spcPts val="400"/>
              </a:spcAft>
              <a:buNone/>
            </a:pPr>
            <a:r>
              <a:rPr lang="en-US" sz="1100" b="1" dirty="0">
                <a:solidFill>
                  <a:srgbClr val="FFFFFF"/>
                </a:solidFill>
              </a:rPr>
              <a:t>Guides: </a:t>
            </a:r>
            <a:pPr indent="0" marL="0">
              <a:spcAft>
                <a:spcPts val="400"/>
              </a:spcAft>
              <a:buNone/>
            </a:pPr>
            <a:r>
              <a:rPr lang="en-US" sz="1100" dirty="0">
                <a:solidFill>
                  <a:srgbClr val="FFFFFF"/>
                </a:solidFill>
              </a:rPr>
              <a:t>Dr. A. R. Surve (HOD), Mrs. A. M. Chimanna (Lab Coordinator)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Problem Statement &amp; Proposed Solution</a:t>
            </a:r>
            <a:endParaRPr lang="en-US" sz="2600" dirty="0"/>
          </a:p>
        </p:txBody>
      </p:sp>
      <p:sp>
        <p:nvSpPr>
          <p:cNvPr id="3" name="Text 1"/>
          <p:cNvSpPr txBox="1"/>
          <p:nvPr/>
        </p:nvSpPr>
        <p:spPr>
          <a:xfrm>
            <a:off x="457200" y="1005840"/>
            <a:ext cx="5486400" cy="228600"/>
          </a:xfrm>
          <a:prstGeom prst="rect">
            <a:avLst/>
          </a:prstGeom>
          <a:noFill/>
          <a:ln/>
        </p:spPr>
        <p:txBody>
          <a:bodyPr wrap="square" lIns="0" tIns="0" rIns="0" bIns="0" rtlCol="0" anchor="t"/>
          <a:lstStyle/>
          <a:p>
            <a:pPr indent="0" marL="0">
              <a:buNone/>
            </a:pPr>
            <a:r>
              <a:rPr lang="en-US" sz="1100" b="1" dirty="0">
                <a:solidFill>
                  <a:srgbClr val="E4572E"/>
                </a:solidFill>
              </a:rPr>
              <a:t>PROBLEM STATEMENT</a:t>
            </a:r>
            <a:endParaRPr lang="en-US" sz="1100" dirty="0"/>
          </a:p>
        </p:txBody>
      </p:sp>
      <p:sp>
        <p:nvSpPr>
          <p:cNvPr id="4" name="Text 2"/>
          <p:cNvSpPr txBox="1"/>
          <p:nvPr/>
        </p:nvSpPr>
        <p:spPr>
          <a:xfrm>
            <a:off x="457200" y="1261872"/>
            <a:ext cx="8229600" cy="411480"/>
          </a:xfrm>
          <a:prstGeom prst="rect">
            <a:avLst/>
          </a:prstGeom>
          <a:noFill/>
          <a:ln/>
        </p:spPr>
        <p:txBody>
          <a:bodyPr wrap="square" lIns="0" tIns="0" rIns="0" bIns="0" rtlCol="0" anchor="t"/>
          <a:lstStyle/>
          <a:p>
            <a:pPr indent="0" marL="0">
              <a:buNone/>
            </a:pPr>
            <a:r>
              <a:rPr lang="en-US" sz="1700" b="1" dirty="0">
                <a:solidFill>
                  <a:srgbClr val="1F2A44"/>
                </a:solidFill>
                <a:latin typeface="Georgia" pitchFamily="34" charset="0"/>
                <a:ea typeface="Georgia" pitchFamily="34" charset="-122"/>
                <a:cs typeface="Georgia" pitchFamily="34" charset="-120"/>
              </a:rPr>
              <a:t>There is no objective measure of a locality's growth potential.</a:t>
            </a:r>
            <a:endParaRPr lang="en-US" sz="1700" dirty="0"/>
          </a:p>
        </p:txBody>
      </p:sp>
      <p:sp>
        <p:nvSpPr>
          <p:cNvPr id="5" name="Text 3"/>
          <p:cNvSpPr txBox="1"/>
          <p:nvPr/>
        </p:nvSpPr>
        <p:spPr>
          <a:xfrm>
            <a:off x="457200" y="1783080"/>
            <a:ext cx="8229600" cy="868680"/>
          </a:xfrm>
          <a:prstGeom prst="rect">
            <a:avLst/>
          </a:prstGeom>
          <a:noFill/>
          <a:ln/>
        </p:spPr>
        <p:txBody>
          <a:bodyPr wrap="square" lIns="0" tIns="0" rIns="0" bIns="0" rtlCol="0" anchor="t"/>
          <a:lstStyle/>
          <a:p>
            <a:pPr indent="0" marL="0">
              <a:buNone/>
            </a:pPr>
            <a:r>
              <a:rPr lang="en-US" sz="1250" dirty="0">
                <a:solidFill>
                  <a:srgbClr val="22283A"/>
                </a:solidFill>
              </a:rPr>
              <a:t>Property decisions are driven largely by current prices and locality reputation, while the effect of planned infrastructure on an area's future value is hard to quantify. Information on upcoming roads, rail and industrial projects is spread across many sources and varies in reliability and timing, which makes systematic comparison of localities difficult.</a:t>
            </a:r>
            <a:endParaRPr lang="en-US" sz="1250" dirty="0"/>
          </a:p>
        </p:txBody>
      </p:sp>
      <p:sp>
        <p:nvSpPr>
          <p:cNvPr id="6" name="Shape 4"/>
          <p:cNvSpPr/>
          <p:nvPr/>
        </p:nvSpPr>
        <p:spPr>
          <a:xfrm>
            <a:off x="457200" y="2743200"/>
            <a:ext cx="8229600" cy="0"/>
          </a:xfrm>
          <a:prstGeom prst="line">
            <a:avLst/>
          </a:prstGeom>
          <a:noFill/>
          <a:ln w="12700">
            <a:solidFill>
              <a:srgbClr val="E7E1D6"/>
            </a:solidFill>
            <a:prstDash val="solid"/>
          </a:ln>
        </p:spPr>
      </p:sp>
      <p:sp>
        <p:nvSpPr>
          <p:cNvPr id="7" name="Text 5"/>
          <p:cNvSpPr txBox="1"/>
          <p:nvPr/>
        </p:nvSpPr>
        <p:spPr>
          <a:xfrm>
            <a:off x="457200" y="2926080"/>
            <a:ext cx="5486400" cy="228600"/>
          </a:xfrm>
          <a:prstGeom prst="rect">
            <a:avLst/>
          </a:prstGeom>
          <a:noFill/>
          <a:ln/>
        </p:spPr>
        <p:txBody>
          <a:bodyPr wrap="square" lIns="0" tIns="0" rIns="0" bIns="0" rtlCol="0" anchor="t"/>
          <a:lstStyle/>
          <a:p>
            <a:pPr indent="0" marL="0">
              <a:buNone/>
            </a:pPr>
            <a:r>
              <a:rPr lang="en-US" sz="1100" b="1" dirty="0">
                <a:solidFill>
                  <a:srgbClr val="3B5BA5"/>
                </a:solidFill>
              </a:rPr>
              <a:t>PROPOSED SOLUTION</a:t>
            </a:r>
            <a:endParaRPr lang="en-US" sz="1100" dirty="0"/>
          </a:p>
        </p:txBody>
      </p:sp>
      <p:sp>
        <p:nvSpPr>
          <p:cNvPr id="8" name="Text 6"/>
          <p:cNvSpPr txBox="1"/>
          <p:nvPr/>
        </p:nvSpPr>
        <p:spPr>
          <a:xfrm>
            <a:off x="457200" y="3182112"/>
            <a:ext cx="8229600" cy="365760"/>
          </a:xfrm>
          <a:prstGeom prst="rect">
            <a:avLst/>
          </a:prstGeom>
          <a:noFill/>
          <a:ln/>
        </p:spPr>
        <p:txBody>
          <a:bodyPr wrap="square" lIns="0" tIns="0" rIns="0" bIns="0" rtlCol="0" anchor="t"/>
          <a:lstStyle/>
          <a:p>
            <a:pPr indent="0" marL="0">
              <a:buNone/>
            </a:pPr>
            <a:r>
              <a:rPr lang="en-US" sz="1400" b="1" dirty="0">
                <a:solidFill>
                  <a:srgbClr val="1F2A44"/>
                </a:solidFill>
                <a:latin typeface="Georgia" pitchFamily="34" charset="0"/>
                <a:ea typeface="Georgia" pitchFamily="34" charset="-122"/>
                <a:cs typeface="Georgia" pitchFamily="34" charset="-120"/>
              </a:rPr>
              <a:t>An explainable, rule-based Development Outlook Score for each locality.</a:t>
            </a:r>
            <a:endParaRPr lang="en-US" sz="1400" dirty="0"/>
          </a:p>
        </p:txBody>
      </p:sp>
      <p:sp>
        <p:nvSpPr>
          <p:cNvPr id="9" name="Text 7"/>
          <p:cNvSpPr txBox="1"/>
          <p:nvPr/>
        </p:nvSpPr>
        <p:spPr>
          <a:xfrm>
            <a:off x="457200" y="3639312"/>
            <a:ext cx="8229600" cy="822960"/>
          </a:xfrm>
          <a:prstGeom prst="rect">
            <a:avLst/>
          </a:prstGeom>
          <a:noFill/>
          <a:ln/>
        </p:spPr>
        <p:txBody>
          <a:bodyPr wrap="square" lIns="0" tIns="0" rIns="0" bIns="0" rtlCol="0" anchor="t"/>
          <a:lstStyle/>
          <a:p>
            <a:pPr indent="0" marL="0">
              <a:buNone/>
            </a:pPr>
            <a:r>
              <a:rPr lang="en-US" sz="1250" dirty="0">
                <a:solidFill>
                  <a:srgbClr val="22283A"/>
                </a:solidFill>
              </a:rPr>
              <a:t>PropTrack turns infrastructure data into a transparent 0-100 score, piloted on Sangli-Miraj-Kupwad. Each project is weighed by type, distance, approval stage and completion year, and the result is shown on an interactive map with a breakdown of what drives it. The score is a growth outlook, not a price prediction.</a:t>
            </a:r>
            <a:endParaRPr lang="en-US" sz="12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Objectives &amp; Success Measures</a:t>
            </a:r>
            <a:endParaRPr lang="en-US" sz="2600" dirty="0"/>
          </a:p>
        </p:txBody>
      </p:sp>
      <p:sp>
        <p:nvSpPr>
          <p:cNvPr id="3" name="Shape 1"/>
          <p:cNvSpPr/>
          <p:nvPr/>
        </p:nvSpPr>
        <p:spPr>
          <a:xfrm>
            <a:off x="457200" y="105156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Text 2"/>
          <p:cNvSpPr txBox="1"/>
          <p:nvPr/>
        </p:nvSpPr>
        <p:spPr>
          <a:xfrm>
            <a:off x="640080" y="118872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1. Requirements &amp; design</a:t>
            </a:r>
            <a:endParaRPr lang="en-US" sz="1300" dirty="0"/>
          </a:p>
        </p:txBody>
      </p:sp>
      <p:sp>
        <p:nvSpPr>
          <p:cNvPr id="5" name="Text 3"/>
          <p:cNvSpPr txBox="1"/>
          <p:nvPr/>
        </p:nvSpPr>
        <p:spPr>
          <a:xfrm>
            <a:off x="640080" y="1554480"/>
            <a:ext cx="3657600" cy="1005840"/>
          </a:xfrm>
          <a:prstGeom prst="rect">
            <a:avLst/>
          </a:prstGeom>
          <a:noFill/>
          <a:ln/>
        </p:spPr>
        <p:txBody>
          <a:bodyPr wrap="square" lIns="0" tIns="0" rIns="0" bIns="0" rtlCol="0" anchor="t"/>
          <a:lstStyle/>
          <a:p>
            <a:pPr indent="0" marL="0">
              <a:spcAft>
                <a:spcPts val="500"/>
              </a:spcAft>
              <a:buNone/>
            </a:pPr>
            <a:r>
              <a:rPr lang="en-US" sz="1100" b="1" dirty="0">
                <a:solidFill>
                  <a:srgbClr val="3B5BA5"/>
                </a:solidFill>
              </a:rPr>
              <a:t>How: </a:t>
            </a:r>
            <a:pPr indent="0" marL="0">
              <a:spcAft>
                <a:spcPts val="500"/>
              </a:spcAft>
              <a:buNone/>
            </a:pPr>
            <a:r>
              <a:rPr lang="en-US" sz="1100" dirty="0">
                <a:solidFill>
                  <a:srgbClr val="22283A"/>
                </a:solidFill>
              </a:rPr>
              <a:t>Customer connect with local realtors; SRS, ER schema and UML.</a:t>
            </a:r>
            <a:endParaRPr lang="en-US" sz="1100" dirty="0"/>
          </a:p>
          <a:p>
            <a:pPr indent="0" marL="0">
              <a:spcAft>
                <a:spcPts val="500"/>
              </a:spcAft>
              <a:buNone/>
            </a:pPr>
            <a:r>
              <a:rPr lang="en-US" sz="1100" b="1" dirty="0">
                <a:solidFill>
                  <a:srgbClr val="E4572E"/>
                </a:solidFill>
              </a:rPr>
              <a:t>Measure: </a:t>
            </a:r>
            <a:pPr indent="0" marL="0">
              <a:spcAft>
                <a:spcPts val="500"/>
              </a:spcAft>
              <a:buNone/>
            </a:pPr>
            <a:r>
              <a:rPr lang="en-US" sz="1100" dirty="0">
                <a:solidFill>
                  <a:srgbClr val="22283A"/>
                </a:solidFill>
              </a:rPr>
              <a:t>SRS sign-off, schema completeness, consultations logged.</a:t>
            </a:r>
            <a:endParaRPr lang="en-US" sz="1100" dirty="0"/>
          </a:p>
        </p:txBody>
      </p:sp>
      <p:sp>
        <p:nvSpPr>
          <p:cNvPr id="6" name="Shape 4"/>
          <p:cNvSpPr/>
          <p:nvPr/>
        </p:nvSpPr>
        <p:spPr>
          <a:xfrm>
            <a:off x="4663440" y="105156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7" name="Text 5"/>
          <p:cNvSpPr txBox="1"/>
          <p:nvPr/>
        </p:nvSpPr>
        <p:spPr>
          <a:xfrm>
            <a:off x="4846320" y="118872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2. Core module development</a:t>
            </a:r>
            <a:endParaRPr lang="en-US" sz="1300" dirty="0"/>
          </a:p>
        </p:txBody>
      </p:sp>
      <p:sp>
        <p:nvSpPr>
          <p:cNvPr id="8" name="Text 6"/>
          <p:cNvSpPr txBox="1"/>
          <p:nvPr/>
        </p:nvSpPr>
        <p:spPr>
          <a:xfrm>
            <a:off x="4846320" y="1554480"/>
            <a:ext cx="3657600" cy="1005840"/>
          </a:xfrm>
          <a:prstGeom prst="rect">
            <a:avLst/>
          </a:prstGeom>
          <a:noFill/>
          <a:ln/>
        </p:spPr>
        <p:txBody>
          <a:bodyPr wrap="square" lIns="0" tIns="0" rIns="0" bIns="0" rtlCol="0" anchor="t"/>
          <a:lstStyle/>
          <a:p>
            <a:pPr indent="0" marL="0">
              <a:spcAft>
                <a:spcPts val="500"/>
              </a:spcAft>
              <a:buNone/>
            </a:pPr>
            <a:r>
              <a:rPr lang="en-US" sz="1100" b="1" dirty="0">
                <a:solidFill>
                  <a:srgbClr val="3B5BA5"/>
                </a:solidFill>
              </a:rPr>
              <a:t>How: </a:t>
            </a:r>
            <a:pPr indent="0" marL="0">
              <a:spcAft>
                <a:spcPts val="500"/>
              </a:spcAft>
              <a:buNone/>
            </a:pPr>
            <a:r>
              <a:rPr lang="en-US" sz="1100" dirty="0">
                <a:solidFill>
                  <a:srgbClr val="22283A"/>
                </a:solidFill>
              </a:rPr>
              <a:t>Project registry, rule-based scoring engine, buyer and admin modules.</a:t>
            </a:r>
            <a:endParaRPr lang="en-US" sz="1100" dirty="0"/>
          </a:p>
          <a:p>
            <a:pPr indent="0" marL="0">
              <a:spcAft>
                <a:spcPts val="500"/>
              </a:spcAft>
              <a:buNone/>
            </a:pPr>
            <a:r>
              <a:rPr lang="en-US" sz="1100" b="1" dirty="0">
                <a:solidFill>
                  <a:srgbClr val="E4572E"/>
                </a:solidFill>
              </a:rPr>
              <a:t>Measure: </a:t>
            </a:r>
            <a:pPr indent="0" marL="0">
              <a:spcAft>
                <a:spcPts val="500"/>
              </a:spcAft>
              <a:buNone/>
            </a:pPr>
            <a:r>
              <a:rPr lang="en-US" sz="1100" dirty="0">
                <a:solidFill>
                  <a:srgbClr val="22283A"/>
                </a:solidFill>
              </a:rPr>
              <a:t>Scores match hand-computed cases; API test pass rate.</a:t>
            </a:r>
            <a:endParaRPr lang="en-US" sz="1100" dirty="0"/>
          </a:p>
        </p:txBody>
      </p:sp>
      <p:sp>
        <p:nvSpPr>
          <p:cNvPr id="9" name="Shape 7"/>
          <p:cNvSpPr/>
          <p:nvPr/>
        </p:nvSpPr>
        <p:spPr>
          <a:xfrm>
            <a:off x="457200" y="283464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0" name="Text 8"/>
          <p:cNvSpPr txBox="1"/>
          <p:nvPr/>
        </p:nvSpPr>
        <p:spPr>
          <a:xfrm>
            <a:off x="640080" y="297180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3. Testing &amp; validation</a:t>
            </a:r>
            <a:endParaRPr lang="en-US" sz="1300" dirty="0"/>
          </a:p>
        </p:txBody>
      </p:sp>
      <p:sp>
        <p:nvSpPr>
          <p:cNvPr id="11" name="Text 9"/>
          <p:cNvSpPr txBox="1"/>
          <p:nvPr/>
        </p:nvSpPr>
        <p:spPr>
          <a:xfrm>
            <a:off x="640080" y="3337560"/>
            <a:ext cx="3657600" cy="1005840"/>
          </a:xfrm>
          <a:prstGeom prst="rect">
            <a:avLst/>
          </a:prstGeom>
          <a:noFill/>
          <a:ln/>
        </p:spPr>
        <p:txBody>
          <a:bodyPr wrap="square" lIns="0" tIns="0" rIns="0" bIns="0" rtlCol="0" anchor="t"/>
          <a:lstStyle/>
          <a:p>
            <a:pPr indent="0" marL="0">
              <a:spcAft>
                <a:spcPts val="500"/>
              </a:spcAft>
              <a:buNone/>
            </a:pPr>
            <a:r>
              <a:rPr lang="en-US" sz="1100" b="1" dirty="0">
                <a:solidFill>
                  <a:srgbClr val="3B5BA5"/>
                </a:solidFill>
              </a:rPr>
              <a:t>How: </a:t>
            </a:r>
            <a:pPr indent="0" marL="0">
              <a:spcAft>
                <a:spcPts val="500"/>
              </a:spcAft>
              <a:buNone/>
            </a:pPr>
            <a:r>
              <a:rPr lang="en-US" sz="1100" dirty="0">
                <a:solidFill>
                  <a:srgbClr val="22283A"/>
                </a:solidFill>
              </a:rPr>
              <a:t>Unit, integration and acceptance tests; ±20% weight sensitivity check.</a:t>
            </a:r>
            <a:endParaRPr lang="en-US" sz="1100" dirty="0"/>
          </a:p>
          <a:p>
            <a:pPr indent="0" marL="0">
              <a:spcAft>
                <a:spcPts val="500"/>
              </a:spcAft>
              <a:buNone/>
            </a:pPr>
            <a:r>
              <a:rPr lang="en-US" sz="1100" b="1" dirty="0">
                <a:solidFill>
                  <a:srgbClr val="E4572E"/>
                </a:solidFill>
              </a:rPr>
              <a:t>Measure: </a:t>
            </a:r>
            <a:pPr indent="0" marL="0">
              <a:spcAft>
                <a:spcPts val="500"/>
              </a:spcAft>
              <a:buNone/>
            </a:pPr>
            <a:r>
              <a:rPr lang="en-US" sz="1100" dirty="0">
                <a:solidFill>
                  <a:srgbClr val="22283A"/>
                </a:solidFill>
              </a:rPr>
              <a:t>Test pass rate, defect count, ranking stability.</a:t>
            </a:r>
            <a:endParaRPr lang="en-US" sz="1100" dirty="0"/>
          </a:p>
        </p:txBody>
      </p:sp>
      <p:sp>
        <p:nvSpPr>
          <p:cNvPr id="12" name="Shape 10"/>
          <p:cNvSpPr/>
          <p:nvPr/>
        </p:nvSpPr>
        <p:spPr>
          <a:xfrm>
            <a:off x="4663440" y="283464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3" name="Text 11"/>
          <p:cNvSpPr txBox="1"/>
          <p:nvPr/>
        </p:nvSpPr>
        <p:spPr>
          <a:xfrm>
            <a:off x="4846320" y="297180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4. Deployment &amp; evaluation</a:t>
            </a:r>
            <a:endParaRPr lang="en-US" sz="1300" dirty="0"/>
          </a:p>
        </p:txBody>
      </p:sp>
      <p:sp>
        <p:nvSpPr>
          <p:cNvPr id="14" name="Text 12"/>
          <p:cNvSpPr txBox="1"/>
          <p:nvPr/>
        </p:nvSpPr>
        <p:spPr>
          <a:xfrm>
            <a:off x="4846320" y="3337560"/>
            <a:ext cx="3657600" cy="1005840"/>
          </a:xfrm>
          <a:prstGeom prst="rect">
            <a:avLst/>
          </a:prstGeom>
          <a:noFill/>
          <a:ln/>
        </p:spPr>
        <p:txBody>
          <a:bodyPr wrap="square" lIns="0" tIns="0" rIns="0" bIns="0" rtlCol="0" anchor="t"/>
          <a:lstStyle/>
          <a:p>
            <a:pPr indent="0" marL="0">
              <a:spcAft>
                <a:spcPts val="500"/>
              </a:spcAft>
              <a:buNone/>
            </a:pPr>
            <a:r>
              <a:rPr lang="en-US" sz="1100" b="1" dirty="0">
                <a:solidFill>
                  <a:srgbClr val="3B5BA5"/>
                </a:solidFill>
              </a:rPr>
              <a:t>How: </a:t>
            </a:r>
            <a:pPr indent="0" marL="0">
              <a:spcAft>
                <a:spcPts val="500"/>
              </a:spcAft>
              <a:buNone/>
            </a:pPr>
            <a:r>
              <a:rPr lang="en-US" sz="1100" dirty="0">
                <a:solidFill>
                  <a:srgbClr val="22283A"/>
                </a:solidFill>
              </a:rPr>
              <a:t>Release a working prototype and collect stakeholder feedback.</a:t>
            </a:r>
            <a:endParaRPr lang="en-US" sz="1100" dirty="0"/>
          </a:p>
          <a:p>
            <a:pPr indent="0" marL="0">
              <a:spcAft>
                <a:spcPts val="500"/>
              </a:spcAft>
              <a:buNone/>
            </a:pPr>
            <a:r>
              <a:rPr lang="en-US" sz="1100" b="1" dirty="0">
                <a:solidFill>
                  <a:srgbClr val="E4572E"/>
                </a:solidFill>
              </a:rPr>
              <a:t>Measure: </a:t>
            </a:r>
            <a:pPr indent="0" marL="0">
              <a:spcAft>
                <a:spcPts val="500"/>
              </a:spcAft>
              <a:buNone/>
            </a:pPr>
            <a:r>
              <a:rPr lang="en-US" sz="1100" dirty="0">
                <a:solidFill>
                  <a:srgbClr val="22283A"/>
                </a:solidFill>
              </a:rPr>
              <a:t>Uptime, feedback score, refinements made.</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Literature Review &amp; Gap Analysis</a:t>
            </a:r>
            <a:endParaRPr lang="en-US" sz="2600" dirty="0"/>
          </a:p>
        </p:txBody>
      </p:sp>
      <p:sp>
        <p:nvSpPr>
          <p:cNvPr id="3" name="Shape 1"/>
          <p:cNvSpPr/>
          <p:nvPr/>
        </p:nvSpPr>
        <p:spPr>
          <a:xfrm>
            <a:off x="457200" y="1051560"/>
            <a:ext cx="2651760" cy="2468880"/>
          </a:xfrm>
          <a:prstGeom prst="roundRect">
            <a:avLst>
              <a:gd name="adj" fmla="val 518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Text 2"/>
          <p:cNvSpPr txBox="1"/>
          <p:nvPr/>
        </p:nvSpPr>
        <p:spPr>
          <a:xfrm>
            <a:off x="566928" y="1097280"/>
            <a:ext cx="2468880" cy="411480"/>
          </a:xfrm>
          <a:prstGeom prst="rect">
            <a:avLst/>
          </a:prstGeom>
          <a:noFill/>
          <a:ln/>
        </p:spPr>
        <p:txBody>
          <a:bodyPr wrap="square" lIns="0" tIns="0" rIns="0" bIns="0" rtlCol="0" anchor="ctr"/>
          <a:lstStyle/>
          <a:p>
            <a:pPr indent="0" marL="0">
              <a:buNone/>
            </a:pPr>
            <a:r>
              <a:rPr lang="en-US" sz="1150" b="1" dirty="0">
                <a:solidFill>
                  <a:srgbClr val="1F2A44"/>
                </a:solidFill>
              </a:rPr>
              <a:t>Rosen (1974)</a:t>
            </a:r>
            <a:endParaRPr lang="en-US" sz="1150" dirty="0"/>
          </a:p>
        </p:txBody>
      </p:sp>
      <p:sp>
        <p:nvSpPr>
          <p:cNvPr id="5" name="Text 3"/>
          <p:cNvSpPr txBox="1"/>
          <p:nvPr/>
        </p:nvSpPr>
        <p:spPr>
          <a:xfrm>
            <a:off x="566928" y="1645920"/>
            <a:ext cx="2432304" cy="1828800"/>
          </a:xfrm>
          <a:prstGeom prst="rect">
            <a:avLst/>
          </a:prstGeom>
          <a:noFill/>
          <a:ln/>
        </p:spPr>
        <p:txBody>
          <a:bodyPr wrap="square" lIns="0" tIns="0" rIns="0" bIns="0" rtlCol="0" anchor="t"/>
          <a:lstStyle/>
          <a:p>
            <a:pPr indent="0" marL="0">
              <a:spcAft>
                <a:spcPts val="300"/>
              </a:spcAft>
              <a:buNone/>
            </a:pPr>
            <a:r>
              <a:rPr lang="en-US" sz="1050" b="1" dirty="0">
                <a:solidFill>
                  <a:srgbClr val="3B5BA5"/>
                </a:solidFill>
              </a:rPr>
              <a:t>Hedonic pricing</a:t>
            </a:r>
            <a:endParaRPr lang="en-US" sz="1050" dirty="0"/>
          </a:p>
          <a:p>
            <a:pPr indent="0" marL="0">
              <a:spcAft>
                <a:spcPts val="300"/>
              </a:spcAft>
              <a:buNone/>
            </a:pPr>
            <a:r>
              <a:rPr lang="en-US" sz="1050" b="1" dirty="0">
                <a:solidFill>
                  <a:srgbClr val="22283A"/>
                </a:solidFill>
              </a:rPr>
              <a:t>Approach: </a:t>
            </a:r>
            <a:pPr indent="0" marL="0">
              <a:spcAft>
                <a:spcPts val="300"/>
              </a:spcAft>
              <a:buNone/>
            </a:pPr>
            <a:r>
              <a:rPr lang="en-US" sz="1050" dirty="0">
                <a:solidFill>
                  <a:srgbClr val="22283A"/>
                </a:solidFill>
              </a:rPr>
              <a:t>Regresses price on property and location attributes.</a:t>
            </a:r>
            <a:endParaRPr lang="en-US" sz="1050" dirty="0"/>
          </a:p>
          <a:p>
            <a:pPr indent="0" marL="0">
              <a:spcAft>
                <a:spcPts val="300"/>
              </a:spcAft>
              <a:buNone/>
            </a:pPr>
            <a:r>
              <a:rPr lang="en-US" sz="1050" b="1" dirty="0">
                <a:solidFill>
                  <a:srgbClr val="22283A"/>
                </a:solidFill>
              </a:rPr>
              <a:t>Finding: </a:t>
            </a:r>
            <a:pPr indent="0" marL="0">
              <a:spcAft>
                <a:spcPts val="300"/>
              </a:spcAft>
              <a:buNone/>
            </a:pPr>
            <a:r>
              <a:rPr lang="en-US" sz="1050" dirty="0">
                <a:solidFill>
                  <a:srgbClr val="22283A"/>
                </a:solidFill>
              </a:rPr>
              <a:t>Location attributes carry measurable implicit prices.</a:t>
            </a:r>
            <a:endParaRPr lang="en-US" sz="1050" dirty="0"/>
          </a:p>
          <a:p>
            <a:pPr indent="0" marL="0">
              <a:spcAft>
                <a:spcPts val="300"/>
              </a:spcAft>
              <a:buNone/>
            </a:pPr>
            <a:r>
              <a:rPr lang="en-US" sz="1050" b="1" dirty="0">
                <a:solidFill>
                  <a:srgbClr val="E4572E"/>
                </a:solidFill>
              </a:rPr>
              <a:t>Limitation: </a:t>
            </a:r>
            <a:pPr indent="0" marL="0">
              <a:spcAft>
                <a:spcPts val="300"/>
              </a:spcAft>
              <a:buNone/>
            </a:pPr>
            <a:r>
              <a:rPr lang="en-US" sz="1050" dirty="0">
                <a:solidFill>
                  <a:srgbClr val="22283A"/>
                </a:solidFill>
              </a:rPr>
              <a:t>Needs large transaction data; looks backward, not at planned projects.</a:t>
            </a:r>
            <a:endParaRPr lang="en-US" sz="1050" dirty="0"/>
          </a:p>
        </p:txBody>
      </p:sp>
      <p:sp>
        <p:nvSpPr>
          <p:cNvPr id="6" name="Shape 4"/>
          <p:cNvSpPr/>
          <p:nvPr/>
        </p:nvSpPr>
        <p:spPr>
          <a:xfrm>
            <a:off x="3246120" y="1051560"/>
            <a:ext cx="2651760" cy="2468880"/>
          </a:xfrm>
          <a:prstGeom prst="roundRect">
            <a:avLst>
              <a:gd name="adj" fmla="val 518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7" name="Text 5"/>
          <p:cNvSpPr txBox="1"/>
          <p:nvPr/>
        </p:nvSpPr>
        <p:spPr>
          <a:xfrm>
            <a:off x="3355848" y="1097280"/>
            <a:ext cx="2468880" cy="411480"/>
          </a:xfrm>
          <a:prstGeom prst="rect">
            <a:avLst/>
          </a:prstGeom>
          <a:noFill/>
          <a:ln/>
        </p:spPr>
        <p:txBody>
          <a:bodyPr wrap="square" lIns="0" tIns="0" rIns="0" bIns="0" rtlCol="0" anchor="ctr"/>
          <a:lstStyle/>
          <a:p>
            <a:pPr indent="0" marL="0">
              <a:buNone/>
            </a:pPr>
            <a:r>
              <a:rPr lang="en-US" sz="1150" b="1" dirty="0">
                <a:solidFill>
                  <a:srgbClr val="1F2A44"/>
                </a:solidFill>
              </a:rPr>
              <a:t>Debrezion, Pels &amp; Rietveld (2007)</a:t>
            </a:r>
            <a:endParaRPr lang="en-US" sz="1150" dirty="0"/>
          </a:p>
        </p:txBody>
      </p:sp>
      <p:sp>
        <p:nvSpPr>
          <p:cNvPr id="8" name="Text 6"/>
          <p:cNvSpPr txBox="1"/>
          <p:nvPr/>
        </p:nvSpPr>
        <p:spPr>
          <a:xfrm>
            <a:off x="3355848" y="1645920"/>
            <a:ext cx="2432304" cy="1828800"/>
          </a:xfrm>
          <a:prstGeom prst="rect">
            <a:avLst/>
          </a:prstGeom>
          <a:noFill/>
          <a:ln/>
        </p:spPr>
        <p:txBody>
          <a:bodyPr wrap="square" lIns="0" tIns="0" rIns="0" bIns="0" rtlCol="0" anchor="t"/>
          <a:lstStyle/>
          <a:p>
            <a:pPr indent="0" marL="0">
              <a:spcAft>
                <a:spcPts val="300"/>
              </a:spcAft>
              <a:buNone/>
            </a:pPr>
            <a:r>
              <a:rPr lang="en-US" sz="1050" b="1" dirty="0">
                <a:solidFill>
                  <a:srgbClr val="3B5BA5"/>
                </a:solidFill>
              </a:rPr>
              <a:t>Rail stations &amp; property value</a:t>
            </a:r>
            <a:endParaRPr lang="en-US" sz="1050" dirty="0"/>
          </a:p>
          <a:p>
            <a:pPr indent="0" marL="0">
              <a:spcAft>
                <a:spcPts val="300"/>
              </a:spcAft>
              <a:buNone/>
            </a:pPr>
            <a:r>
              <a:rPr lang="en-US" sz="1050" b="1" dirty="0">
                <a:solidFill>
                  <a:srgbClr val="22283A"/>
                </a:solidFill>
              </a:rPr>
              <a:t>Approach: </a:t>
            </a:r>
            <a:pPr indent="0" marL="0">
              <a:spcAft>
                <a:spcPts val="300"/>
              </a:spcAft>
              <a:buNone/>
            </a:pPr>
            <a:r>
              <a:rPr lang="en-US" sz="1050" dirty="0">
                <a:solidFill>
                  <a:srgbClr val="22283A"/>
                </a:solidFill>
              </a:rPr>
              <a:t>Meta-analysis of studies on station proximity.</a:t>
            </a:r>
            <a:endParaRPr lang="en-US" sz="1050" dirty="0"/>
          </a:p>
          <a:p>
            <a:pPr indent="0" marL="0">
              <a:spcAft>
                <a:spcPts val="300"/>
              </a:spcAft>
              <a:buNone/>
            </a:pPr>
            <a:r>
              <a:rPr lang="en-US" sz="1050" b="1" dirty="0">
                <a:solidFill>
                  <a:srgbClr val="22283A"/>
                </a:solidFill>
              </a:rPr>
              <a:t>Finding: </a:t>
            </a:r>
            <a:pPr indent="0" marL="0">
              <a:spcAft>
                <a:spcPts val="300"/>
              </a:spcAft>
              <a:buNone/>
            </a:pPr>
            <a:r>
              <a:rPr lang="en-US" sz="1050" dirty="0">
                <a:solidFill>
                  <a:srgbClr val="22283A"/>
                </a:solidFill>
              </a:rPr>
              <a:t>Value effects are tied to proximity and fade with distance.</a:t>
            </a:r>
            <a:endParaRPr lang="en-US" sz="1050" dirty="0"/>
          </a:p>
          <a:p>
            <a:pPr indent="0" marL="0">
              <a:spcAft>
                <a:spcPts val="300"/>
              </a:spcAft>
              <a:buNone/>
            </a:pPr>
            <a:r>
              <a:rPr lang="en-US" sz="1050" b="1" dirty="0">
                <a:solidFill>
                  <a:srgbClr val="E4572E"/>
                </a:solidFill>
              </a:rPr>
              <a:t>Limitation: </a:t>
            </a:r>
            <a:pPr indent="0" marL="0">
              <a:spcAft>
                <a:spcPts val="300"/>
              </a:spcAft>
              <a:buNone/>
            </a:pPr>
            <a:r>
              <a:rPr lang="en-US" sz="1050" dirty="0">
                <a:solidFill>
                  <a:srgbClr val="22283A"/>
                </a:solidFill>
              </a:rPr>
              <a:t>Retrospective; ignores project stage and timing.</a:t>
            </a:r>
            <a:endParaRPr lang="en-US" sz="1050" dirty="0"/>
          </a:p>
        </p:txBody>
      </p:sp>
      <p:sp>
        <p:nvSpPr>
          <p:cNvPr id="9" name="Shape 7"/>
          <p:cNvSpPr/>
          <p:nvPr/>
        </p:nvSpPr>
        <p:spPr>
          <a:xfrm>
            <a:off x="6035040" y="1051560"/>
            <a:ext cx="2651760" cy="2468880"/>
          </a:xfrm>
          <a:prstGeom prst="roundRect">
            <a:avLst>
              <a:gd name="adj" fmla="val 518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0" name="Text 8"/>
          <p:cNvSpPr txBox="1"/>
          <p:nvPr/>
        </p:nvSpPr>
        <p:spPr>
          <a:xfrm>
            <a:off x="6144768" y="1097280"/>
            <a:ext cx="2468880" cy="411480"/>
          </a:xfrm>
          <a:prstGeom prst="rect">
            <a:avLst/>
          </a:prstGeom>
          <a:noFill/>
          <a:ln/>
        </p:spPr>
        <p:txBody>
          <a:bodyPr wrap="square" lIns="0" tIns="0" rIns="0" bIns="0" rtlCol="0" anchor="ctr"/>
          <a:lstStyle/>
          <a:p>
            <a:pPr indent="0" marL="0">
              <a:buNone/>
            </a:pPr>
            <a:r>
              <a:rPr lang="en-US" sz="1150" b="1" dirty="0">
                <a:solidFill>
                  <a:srgbClr val="1F2A44"/>
                </a:solidFill>
              </a:rPr>
              <a:t>Saaty (1980)</a:t>
            </a:r>
            <a:endParaRPr lang="en-US" sz="1150" dirty="0"/>
          </a:p>
        </p:txBody>
      </p:sp>
      <p:sp>
        <p:nvSpPr>
          <p:cNvPr id="11" name="Text 9"/>
          <p:cNvSpPr txBox="1"/>
          <p:nvPr/>
        </p:nvSpPr>
        <p:spPr>
          <a:xfrm>
            <a:off x="6144768" y="1645920"/>
            <a:ext cx="2432304" cy="1828800"/>
          </a:xfrm>
          <a:prstGeom prst="rect">
            <a:avLst/>
          </a:prstGeom>
          <a:noFill/>
          <a:ln/>
        </p:spPr>
        <p:txBody>
          <a:bodyPr wrap="square" lIns="0" tIns="0" rIns="0" bIns="0" rtlCol="0" anchor="t"/>
          <a:lstStyle/>
          <a:p>
            <a:pPr indent="0" marL="0">
              <a:spcAft>
                <a:spcPts val="300"/>
              </a:spcAft>
              <a:buNone/>
            </a:pPr>
            <a:r>
              <a:rPr lang="en-US" sz="1050" b="1" dirty="0">
                <a:solidFill>
                  <a:srgbClr val="3B5BA5"/>
                </a:solidFill>
              </a:rPr>
              <a:t>Analytic Hierarchy Process</a:t>
            </a:r>
            <a:endParaRPr lang="en-US" sz="1050" dirty="0"/>
          </a:p>
          <a:p>
            <a:pPr indent="0" marL="0">
              <a:spcAft>
                <a:spcPts val="300"/>
              </a:spcAft>
              <a:buNone/>
            </a:pPr>
            <a:r>
              <a:rPr lang="en-US" sz="1050" b="1" dirty="0">
                <a:solidFill>
                  <a:srgbClr val="22283A"/>
                </a:solidFill>
              </a:rPr>
              <a:t>Approach: </a:t>
            </a:r>
            <a:pPr indent="0" marL="0">
              <a:spcAft>
                <a:spcPts val="300"/>
              </a:spcAft>
              <a:buNone/>
            </a:pPr>
            <a:r>
              <a:rPr lang="en-US" sz="1050" dirty="0">
                <a:solidFill>
                  <a:srgbClr val="22283A"/>
                </a:solidFill>
              </a:rPr>
              <a:t>Pairwise expert comparisons produce criteria weights.</a:t>
            </a:r>
            <a:endParaRPr lang="en-US" sz="1050" dirty="0"/>
          </a:p>
          <a:p>
            <a:pPr indent="0" marL="0">
              <a:spcAft>
                <a:spcPts val="300"/>
              </a:spcAft>
              <a:buNone/>
            </a:pPr>
            <a:r>
              <a:rPr lang="en-US" sz="1050" b="1" dirty="0">
                <a:solidFill>
                  <a:srgbClr val="22283A"/>
                </a:solidFill>
              </a:rPr>
              <a:t>Finding: </a:t>
            </a:r>
            <a:pPr indent="0" marL="0">
              <a:spcAft>
                <a:spcPts val="300"/>
              </a:spcAft>
              <a:buNone/>
            </a:pPr>
            <a:r>
              <a:rPr lang="en-US" sz="1050" dirty="0">
                <a:solidFill>
                  <a:srgbClr val="22283A"/>
                </a:solidFill>
              </a:rPr>
              <a:t>Judgement can be turned into consistent, auditable weights.</a:t>
            </a:r>
            <a:endParaRPr lang="en-US" sz="1050" dirty="0"/>
          </a:p>
          <a:p>
            <a:pPr indent="0" marL="0">
              <a:spcAft>
                <a:spcPts val="300"/>
              </a:spcAft>
              <a:buNone/>
            </a:pPr>
            <a:r>
              <a:rPr lang="en-US" sz="1050" b="1" dirty="0">
                <a:solidFill>
                  <a:srgbClr val="E4572E"/>
                </a:solidFill>
              </a:rPr>
              <a:t>Limitation: </a:t>
            </a:r>
            <a:pPr indent="0" marL="0">
              <a:spcAft>
                <a:spcPts val="300"/>
              </a:spcAft>
              <a:buNone/>
            </a:pPr>
            <a:r>
              <a:rPr lang="en-US" sz="1050" dirty="0">
                <a:solidFill>
                  <a:srgbClr val="22283A"/>
                </a:solidFill>
              </a:rPr>
              <a:t>Subjective; must be checked and calibrated on local data.</a:t>
            </a:r>
            <a:endParaRPr lang="en-US" sz="1050" dirty="0"/>
          </a:p>
        </p:txBody>
      </p:sp>
      <p:sp>
        <p:nvSpPr>
          <p:cNvPr id="12" name="Shape 10"/>
          <p:cNvSpPr/>
          <p:nvPr/>
        </p:nvSpPr>
        <p:spPr>
          <a:xfrm>
            <a:off x="457200" y="3703320"/>
            <a:ext cx="8229600" cy="960120"/>
          </a:xfrm>
          <a:prstGeom prst="roundRect">
            <a:avLst>
              <a:gd name="adj" fmla="val 13333"/>
            </a:avLst>
          </a:prstGeom>
          <a:solidFill>
            <a:srgbClr val="FFF4E2"/>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3" name="Text 11"/>
          <p:cNvSpPr txBox="1"/>
          <p:nvPr/>
        </p:nvSpPr>
        <p:spPr>
          <a:xfrm>
            <a:off x="685800" y="3794760"/>
            <a:ext cx="7863840" cy="777240"/>
          </a:xfrm>
          <a:prstGeom prst="rect">
            <a:avLst/>
          </a:prstGeom>
          <a:noFill/>
          <a:ln/>
        </p:spPr>
        <p:txBody>
          <a:bodyPr wrap="square" lIns="0" tIns="0" rIns="0" bIns="0" rtlCol="0" anchor="ctr"/>
          <a:lstStyle/>
          <a:p>
            <a:pPr indent="0" marL="0">
              <a:buNone/>
            </a:pPr>
            <a:r>
              <a:rPr lang="en-US" sz="1100" b="1" dirty="0">
                <a:solidFill>
                  <a:srgbClr val="E4572E"/>
                </a:solidFill>
              </a:rPr>
              <a:t>RESEARCH GAP  </a:t>
            </a:r>
            <a:pPr indent="0" marL="0">
              <a:buNone/>
            </a:pPr>
            <a:r>
              <a:rPr lang="en-US" sz="1100" dirty="0">
                <a:solidFill>
                  <a:srgbClr val="22283A"/>
                </a:solidFill>
              </a:rPr>
              <a:t>Portals such as 99acres, MagicBricks and Housing.com show listings and locality ratings, but none link a locality to upcoming infrastructure with stage and completion year. PropTrack combines classical weighting methods with a project registry to give an explainable, stage-aware score for Sangli.</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Competitor Analysis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920240"/>
                <a:gridCol w="3291840"/>
                <a:gridCol w="3017520"/>
              </a:tblGrid>
              <a:tr h="475488">
                <a:tc>
                  <a:txBody>
                    <a:bodyPr/>
                    <a:lstStyle/>
                    <a:p>
                      <a:pPr indent="0" marL="0">
                        <a:buNone/>
                      </a:pPr>
                      <a:r>
                        <a:rPr lang="en-US" sz="1050" b="1" dirty="0">
                          <a:solidFill>
                            <a:srgbClr val="FFFFFF"/>
                          </a:solidFill>
                        </a:rPr>
                        <a:t>Platform</a:t>
                      </a:r>
                      <a:endParaRPr lang="en-US" sz="10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rPr>
                        <a:t>What public sources show</a:t>
                      </a:r>
                      <a:endParaRPr lang="en-US" sz="10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rPr>
                        <a:t>Gap vs PropTrack</a:t>
                      </a:r>
                      <a:endParaRPr lang="en-US" sz="10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r>
              <a:tr h="475488">
                <a:tc>
                  <a:txBody>
                    <a:bodyPr/>
                    <a:lstStyle/>
                    <a:p>
                      <a:pPr indent="0" marL="0">
                        <a:buNone/>
                      </a:pPr>
                      <a:r>
                        <a:rPr lang="en-US" sz="1000" dirty="0">
                          <a:solidFill>
                            <a:srgbClr val="22283A"/>
                          </a:solidFill>
                        </a:rPr>
                        <a:t>99acres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Listings, locality reviews, historical price trends, RERA codes where available</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No project-level, stage-aware infrastructure score described</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22283A"/>
                          </a:solidFill>
                        </a:rPr>
                        <a:t>MagicBricks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Locality price trends and locality reviews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Focus on prices and reviews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22283A"/>
                          </a:solidFill>
                        </a:rPr>
                        <a:t>Housing.com</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Residential, commercial and agricultural listings (PropTiger subsidiary)</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No land-type rules or infrastructure outlook described</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22283A"/>
                          </a:solidFill>
                        </a:rPr>
                        <a:t>PropEquity, Clicbrics, Settlin</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Price trends, transaction history, price estimates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Price-based; project timing not described</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22283A"/>
                          </a:solidFill>
                        </a:rPr>
                        <a:t>IGR ASR / RERA</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Tax benchmark values; project registration</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Not designed as a growth outlook</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3977640"/>
            <a:ext cx="8229600" cy="640080"/>
          </a:xfrm>
          <a:prstGeom prst="roundRect">
            <a:avLst>
              <a:gd name="adj" fmla="val 20000"/>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5" name="Text 2"/>
          <p:cNvSpPr txBox="1"/>
          <p:nvPr/>
        </p:nvSpPr>
        <p:spPr>
          <a:xfrm>
            <a:off x="640080" y="3977640"/>
            <a:ext cx="7863840" cy="640080"/>
          </a:xfrm>
          <a:prstGeom prst="rect">
            <a:avLst/>
          </a:prstGeom>
          <a:noFill/>
          <a:ln/>
        </p:spPr>
        <p:txBody>
          <a:bodyPr wrap="square" lIns="0" tIns="0" rIns="0" bIns="0" rtlCol="0" anchor="ctr"/>
          <a:lstStyle/>
          <a:p>
            <a:pPr indent="0" marL="0">
              <a:buNone/>
            </a:pPr>
            <a:r>
              <a:rPr lang="en-US" sz="1200" b="1" dirty="0">
                <a:solidFill>
                  <a:srgbClr val="3B5BA5"/>
                </a:solidFill>
              </a:rPr>
              <a:t>PropTrack's difference: </a:t>
            </a:r>
            <a:pPr indent="0" marL="0">
              <a:buNone/>
            </a:pPr>
            <a:r>
              <a:rPr lang="en-US" sz="1200" dirty="0">
                <a:solidFill>
                  <a:srgbClr val="22283A"/>
                </a:solidFill>
              </a:rPr>
              <a:t>project-level, stage-aware, explainable, and land-type aware.</a:t>
            </a:r>
            <a:endParaRPr lang="en-US" sz="1200" dirty="0"/>
          </a:p>
        </p:txBody>
      </p:sp>
      <p:sp>
        <p:nvSpPr>
          <p:cNvPr id="6" name="Text 3"/>
          <p:cNvSpPr txBox="1"/>
          <p:nvPr/>
        </p:nvSpPr>
        <p:spPr>
          <a:xfrm>
            <a:off x="457200" y="4663440"/>
            <a:ext cx="8229600" cy="228600"/>
          </a:xfrm>
          <a:prstGeom prst="rect">
            <a:avLst/>
          </a:prstGeom>
          <a:noFill/>
          <a:ln/>
        </p:spPr>
        <p:txBody>
          <a:bodyPr wrap="square" lIns="0" tIns="0" rIns="0" bIns="0" rtlCol="0" anchor="t"/>
          <a:lstStyle/>
          <a:p>
            <a:pPr indent="0" marL="0">
              <a:buNone/>
            </a:pPr>
            <a:r>
              <a:rPr lang="en-US" sz="950" i="1" dirty="0">
                <a:solidFill>
                  <a:srgbClr val="5E6A73"/>
                </a:solidFill>
              </a:rPr>
              <a:t>Based on public descriptions reviewed in Oct 2026; internal algorithms are not visible.</a:t>
            </a:r>
            <a:endParaRPr lang="en-US" sz="9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Agricultural vs Non-Agricultural Land</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gridCol w="3383280"/>
                <a:gridCol w="3108960"/>
              </a:tblGrid>
              <a:tr h="502920">
                <a:tc>
                  <a:txBody>
                    <a:bodyPr/>
                    <a:lstStyle/>
                    <a:p>
                      <a:pPr indent="0" marL="0">
                        <a:buNone/>
                      </a:pPr>
                      <a:r>
                        <a:rPr lang="en-US" sz="1050" b="1" dirty="0">
                          <a:solidFill>
                            <a:srgbClr val="FFFFFF"/>
                          </a:solidFill>
                        </a:rPr>
                        <a:t>Aspect</a:t>
                      </a:r>
                      <a:endParaRPr lang="en-US" sz="10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rPr>
                        <a:t>Agricultural land</a:t>
                      </a:r>
                      <a:endParaRPr lang="en-US" sz="10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rPr>
                        <a:t>Non-agricultural (NA) / urban land</a:t>
                      </a:r>
                      <a:endParaRPr lang="en-US" sz="10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r>
              <a:tr h="502920">
                <a:tc>
                  <a:txBody>
                    <a:bodyPr/>
                    <a:lstStyle/>
                    <a:p>
                      <a:pPr indent="0" marL="0">
                        <a:buNone/>
                      </a:pPr>
                      <a:r>
                        <a:rPr lang="en-US" sz="1000" dirty="0">
                          <a:solidFill>
                            <a:srgbClr val="22283A"/>
                          </a:solidFill>
                        </a:rPr>
                        <a:t>Who may buy</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Agriculturists only (MTAL Act s.63), with exceptions such as industrial use</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Generally open to any buyer</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22283A"/>
                          </a:solidFill>
                        </a:rPr>
                        <a:t>Benchmark value (ASR)</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Per hectare: rain-fed or irrigated</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Per square metre for plots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22283A"/>
                          </a:solidFill>
                        </a:rPr>
                        <a:t>What infrastructure changes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Chance of conversion and development</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Access, amenities, resale price</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22283A"/>
                          </a:solidFill>
                        </a:rPr>
                        <a:t>Key risks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Acquisition for the project, no access point on controlled roads</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000" dirty="0">
                          <a:solidFill>
                            <a:srgbClr val="22283A"/>
                          </a:solidFill>
                        </a:rPr>
                        <a:t>Lower legal risk</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3611880"/>
            <a:ext cx="8229600" cy="1005840"/>
          </a:xfrm>
          <a:prstGeom prst="roundRect">
            <a:avLst>
              <a:gd name="adj" fmla="val 12727"/>
            </a:avLst>
          </a:prstGeom>
          <a:solidFill>
            <a:srgbClr val="FFF4E2"/>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5" name="Text 2"/>
          <p:cNvSpPr txBox="1"/>
          <p:nvPr/>
        </p:nvSpPr>
        <p:spPr>
          <a:xfrm>
            <a:off x="640080" y="3611880"/>
            <a:ext cx="7863840" cy="1005840"/>
          </a:xfrm>
          <a:prstGeom prst="rect">
            <a:avLst/>
          </a:prstGeom>
          <a:noFill/>
          <a:ln/>
        </p:spPr>
        <p:txBody>
          <a:bodyPr wrap="square" lIns="0" tIns="0" rIns="0" bIns="0" rtlCol="0" anchor="ctr"/>
          <a:lstStyle/>
          <a:p>
            <a:pPr indent="0" marL="0">
              <a:buNone/>
            </a:pPr>
            <a:r>
              <a:rPr lang="en-US" sz="1150" b="1" dirty="0">
                <a:solidFill>
                  <a:srgbClr val="E4572E"/>
                </a:solidFill>
              </a:rPr>
              <a:t>In PropTrack: </a:t>
            </a:r>
            <a:pPr indent="0" marL="0">
              <a:buNone/>
            </a:pPr>
            <a:r>
              <a:rPr lang="en-US" sz="1150" dirty="0">
                <a:solidFill>
                  <a:srgbClr val="22283A"/>
                </a:solidFill>
              </a:rPr>
              <a:t>one Outlook Score plus land-type flags (eligibility, conversion readiness, alignment, access point). Legal status is a gate, so it is shown beside the score, not inside it. Flags are informational, not legal advice.</a:t>
            </a:r>
            <a:endParaRPr lang="en-US" sz="11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Customer Connect / Requirements</a:t>
            </a:r>
            <a:endParaRPr lang="en-US" sz="2600" dirty="0"/>
          </a:p>
        </p:txBody>
      </p:sp>
      <p:sp>
        <p:nvSpPr>
          <p:cNvPr id="3" name="Shape 1"/>
          <p:cNvSpPr/>
          <p:nvPr/>
        </p:nvSpPr>
        <p:spPr>
          <a:xfrm>
            <a:off x="457200" y="1051560"/>
            <a:ext cx="2651760" cy="2926080"/>
          </a:xfrm>
          <a:prstGeom prst="roundRect">
            <a:avLst>
              <a:gd name="adj" fmla="val 4828"/>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Text 2"/>
          <p:cNvSpPr txBox="1"/>
          <p:nvPr/>
        </p:nvSpPr>
        <p:spPr>
          <a:xfrm>
            <a:off x="594360" y="1188720"/>
            <a:ext cx="2377440" cy="274320"/>
          </a:xfrm>
          <a:prstGeom prst="rect">
            <a:avLst/>
          </a:prstGeom>
          <a:noFill/>
          <a:ln/>
        </p:spPr>
        <p:txBody>
          <a:bodyPr wrap="square" lIns="0" tIns="0" rIns="0" bIns="0" rtlCol="0" anchor="t"/>
          <a:lstStyle/>
          <a:p>
            <a:pPr indent="0" marL="0">
              <a:buNone/>
            </a:pPr>
            <a:r>
              <a:rPr lang="en-US" sz="1200" b="1" dirty="0">
                <a:solidFill>
                  <a:srgbClr val="3B5BA5"/>
                </a:solidFill>
              </a:rPr>
              <a:t>PROPERTY BUYER</a:t>
            </a:r>
            <a:endParaRPr lang="en-US" sz="1200" dirty="0"/>
          </a:p>
        </p:txBody>
      </p:sp>
      <p:sp>
        <p:nvSpPr>
          <p:cNvPr id="5" name="Text 3"/>
          <p:cNvSpPr txBox="1"/>
          <p:nvPr/>
        </p:nvSpPr>
        <p:spPr>
          <a:xfrm>
            <a:off x="594360" y="1508760"/>
            <a:ext cx="2377440" cy="502920"/>
          </a:xfrm>
          <a:prstGeom prst="rect">
            <a:avLst/>
          </a:prstGeom>
          <a:noFill/>
          <a:ln/>
        </p:spPr>
        <p:txBody>
          <a:bodyPr wrap="square" lIns="0" tIns="0" rIns="0" bIns="0" rtlCol="0" anchor="t"/>
          <a:lstStyle/>
          <a:p>
            <a:pPr indent="0" marL="0">
              <a:buNone/>
            </a:pPr>
            <a:r>
              <a:rPr lang="en-US" sz="1100" b="1" dirty="0">
                <a:solidFill>
                  <a:srgbClr val="22283A"/>
                </a:solidFill>
              </a:rPr>
              <a:t>Need: </a:t>
            </a:r>
            <a:pPr indent="0" marL="0">
              <a:buNone/>
            </a:pPr>
            <a:r>
              <a:rPr lang="en-US" sz="1100" dirty="0">
                <a:solidFill>
                  <a:srgbClr val="22283A"/>
                </a:solidFill>
              </a:rPr>
              <a:t>Compare areas on future growth</a:t>
            </a:r>
            <a:endParaRPr lang="en-US" sz="1100" dirty="0"/>
          </a:p>
        </p:txBody>
      </p:sp>
      <p:sp>
        <p:nvSpPr>
          <p:cNvPr id="6" name="Text 4"/>
          <p:cNvSpPr txBox="1"/>
          <p:nvPr/>
        </p:nvSpPr>
        <p:spPr>
          <a:xfrm>
            <a:off x="594360" y="2103120"/>
            <a:ext cx="2377440" cy="10972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83A"/>
                </a:solidFill>
              </a:rPr>
              <a:t>Simple 0-100 score on a map</a:t>
            </a:r>
            <a:endParaRPr lang="en-US" sz="1100" dirty="0"/>
          </a:p>
          <a:p>
            <a:pPr marL="342900" indent="-342900">
              <a:spcAft>
                <a:spcPts val="400"/>
              </a:spcAft>
              <a:buSzPct val="100000"/>
              <a:buChar char="•"/>
            </a:pPr>
            <a:r>
              <a:rPr lang="en-US" sz="1100" dirty="0">
                <a:solidFill>
                  <a:srgbClr val="22283A"/>
                </a:solidFill>
              </a:rPr>
              <a:t>Reasons behind every score</a:t>
            </a:r>
            <a:endParaRPr lang="en-US" sz="1100" dirty="0"/>
          </a:p>
          <a:p>
            <a:pPr marL="342900" indent="-342900">
              <a:spcAft>
                <a:spcPts val="400"/>
              </a:spcAft>
              <a:buSzPct val="100000"/>
              <a:buChar char="•"/>
            </a:pPr>
            <a:r>
              <a:rPr lang="en-US" sz="1100" dirty="0">
                <a:solidFill>
                  <a:srgbClr val="22283A"/>
                </a:solidFill>
              </a:rPr>
              <a:t>Filter by project certainty</a:t>
            </a:r>
            <a:endParaRPr lang="en-US" sz="1100" dirty="0"/>
          </a:p>
        </p:txBody>
      </p:sp>
      <p:sp>
        <p:nvSpPr>
          <p:cNvPr id="7" name="Text 5"/>
          <p:cNvSpPr txBox="1"/>
          <p:nvPr/>
        </p:nvSpPr>
        <p:spPr>
          <a:xfrm>
            <a:off x="594360" y="3291840"/>
            <a:ext cx="2377440" cy="594360"/>
          </a:xfrm>
          <a:prstGeom prst="rect">
            <a:avLst/>
          </a:prstGeom>
          <a:noFill/>
          <a:ln/>
        </p:spPr>
        <p:txBody>
          <a:bodyPr wrap="square" lIns="0" tIns="0" rIns="0" bIns="0" rtlCol="0" anchor="t"/>
          <a:lstStyle/>
          <a:p>
            <a:pPr indent="0" marL="0">
              <a:buNone/>
            </a:pPr>
            <a:r>
              <a:rPr lang="en-US" sz="1100" b="1" dirty="0">
                <a:solidFill>
                  <a:srgbClr val="3B5BA5"/>
                </a:solidFill>
              </a:rPr>
              <a:t>Value: </a:t>
            </a:r>
            <a:pPr indent="0" marL="0">
              <a:buNone/>
            </a:pPr>
            <a:r>
              <a:rPr lang="en-US" sz="1100" dirty="0">
                <a:solidFill>
                  <a:srgbClr val="22283A"/>
                </a:solidFill>
              </a:rPr>
              <a:t>Confident, informed location choice</a:t>
            </a:r>
            <a:endParaRPr lang="en-US" sz="1100" dirty="0"/>
          </a:p>
        </p:txBody>
      </p:sp>
      <p:sp>
        <p:nvSpPr>
          <p:cNvPr id="8" name="Shape 6"/>
          <p:cNvSpPr/>
          <p:nvPr/>
        </p:nvSpPr>
        <p:spPr>
          <a:xfrm>
            <a:off x="3246120" y="1051560"/>
            <a:ext cx="2651760" cy="2926080"/>
          </a:xfrm>
          <a:prstGeom prst="roundRect">
            <a:avLst>
              <a:gd name="adj" fmla="val 4828"/>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9" name="Text 7"/>
          <p:cNvSpPr txBox="1"/>
          <p:nvPr/>
        </p:nvSpPr>
        <p:spPr>
          <a:xfrm>
            <a:off x="3383280" y="1188720"/>
            <a:ext cx="2377440" cy="274320"/>
          </a:xfrm>
          <a:prstGeom prst="rect">
            <a:avLst/>
          </a:prstGeom>
          <a:noFill/>
          <a:ln/>
        </p:spPr>
        <p:txBody>
          <a:bodyPr wrap="square" lIns="0" tIns="0" rIns="0" bIns="0" rtlCol="0" anchor="t"/>
          <a:lstStyle/>
          <a:p>
            <a:pPr indent="0" marL="0">
              <a:buNone/>
            </a:pPr>
            <a:r>
              <a:rPr lang="en-US" sz="1200" b="1" dirty="0">
                <a:solidFill>
                  <a:srgbClr val="E4572E"/>
                </a:solidFill>
              </a:rPr>
              <a:t>LOCAL REALTOR</a:t>
            </a:r>
            <a:endParaRPr lang="en-US" sz="1200" dirty="0"/>
          </a:p>
        </p:txBody>
      </p:sp>
      <p:sp>
        <p:nvSpPr>
          <p:cNvPr id="10" name="Text 8"/>
          <p:cNvSpPr txBox="1"/>
          <p:nvPr/>
        </p:nvSpPr>
        <p:spPr>
          <a:xfrm>
            <a:off x="3383280" y="1508760"/>
            <a:ext cx="2377440" cy="502920"/>
          </a:xfrm>
          <a:prstGeom prst="rect">
            <a:avLst/>
          </a:prstGeom>
          <a:noFill/>
          <a:ln/>
        </p:spPr>
        <p:txBody>
          <a:bodyPr wrap="square" lIns="0" tIns="0" rIns="0" bIns="0" rtlCol="0" anchor="t"/>
          <a:lstStyle/>
          <a:p>
            <a:pPr indent="0" marL="0">
              <a:buNone/>
            </a:pPr>
            <a:r>
              <a:rPr lang="en-US" sz="1100" b="1" dirty="0">
                <a:solidFill>
                  <a:srgbClr val="22283A"/>
                </a:solidFill>
              </a:rPr>
              <a:t>Need: </a:t>
            </a:r>
            <a:pPr indent="0" marL="0">
              <a:buNone/>
            </a:pPr>
            <a:r>
              <a:rPr lang="en-US" sz="1100" dirty="0">
                <a:solidFill>
                  <a:srgbClr val="22283A"/>
                </a:solidFill>
              </a:rPr>
              <a:t>Credible, citable area insights</a:t>
            </a:r>
            <a:endParaRPr lang="en-US" sz="1100" dirty="0"/>
          </a:p>
        </p:txBody>
      </p:sp>
      <p:sp>
        <p:nvSpPr>
          <p:cNvPr id="11" name="Text 9"/>
          <p:cNvSpPr txBox="1"/>
          <p:nvPr/>
        </p:nvSpPr>
        <p:spPr>
          <a:xfrm>
            <a:off x="3383280" y="2103120"/>
            <a:ext cx="2377440" cy="10972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83A"/>
                </a:solidFill>
              </a:rPr>
              <a:t>Which projects affect an area</a:t>
            </a:r>
            <a:endParaRPr lang="en-US" sz="1100" dirty="0"/>
          </a:p>
          <a:p>
            <a:pPr marL="342900" indent="-342900">
              <a:spcAft>
                <a:spcPts val="400"/>
              </a:spcAft>
              <a:buSzPct val="100000"/>
              <a:buChar char="•"/>
            </a:pPr>
            <a:r>
              <a:rPr lang="en-US" sz="1100" dirty="0">
                <a:solidFill>
                  <a:srgbClr val="22283A"/>
                </a:solidFill>
              </a:rPr>
              <a:t>Stage and expected year shown</a:t>
            </a:r>
            <a:endParaRPr lang="en-US" sz="1100" dirty="0"/>
          </a:p>
          <a:p>
            <a:pPr marL="342900" indent="-342900">
              <a:spcAft>
                <a:spcPts val="400"/>
              </a:spcAft>
              <a:buSzPct val="100000"/>
              <a:buChar char="•"/>
            </a:pPr>
            <a:r>
              <a:rPr lang="en-US" sz="1100" dirty="0">
                <a:solidFill>
                  <a:srgbClr val="22283A"/>
                </a:solidFill>
              </a:rPr>
              <a:t>Source of each data point</a:t>
            </a:r>
            <a:endParaRPr lang="en-US" sz="1100" dirty="0"/>
          </a:p>
        </p:txBody>
      </p:sp>
      <p:sp>
        <p:nvSpPr>
          <p:cNvPr id="12" name="Text 10"/>
          <p:cNvSpPr txBox="1"/>
          <p:nvPr/>
        </p:nvSpPr>
        <p:spPr>
          <a:xfrm>
            <a:off x="3383280" y="3291840"/>
            <a:ext cx="2377440" cy="594360"/>
          </a:xfrm>
          <a:prstGeom prst="rect">
            <a:avLst/>
          </a:prstGeom>
          <a:noFill/>
          <a:ln/>
        </p:spPr>
        <p:txBody>
          <a:bodyPr wrap="square" lIns="0" tIns="0" rIns="0" bIns="0" rtlCol="0" anchor="t"/>
          <a:lstStyle/>
          <a:p>
            <a:pPr indent="0" marL="0">
              <a:buNone/>
            </a:pPr>
            <a:r>
              <a:rPr lang="en-US" sz="1100" b="1" dirty="0">
                <a:solidFill>
                  <a:srgbClr val="E4572E"/>
                </a:solidFill>
              </a:rPr>
              <a:t>Value: </a:t>
            </a:r>
            <a:pPr indent="0" marL="0">
              <a:buNone/>
            </a:pPr>
            <a:r>
              <a:rPr lang="en-US" sz="1100" dirty="0">
                <a:solidFill>
                  <a:srgbClr val="22283A"/>
                </a:solidFill>
              </a:rPr>
              <a:t>A data-backed pitch for clients</a:t>
            </a:r>
            <a:endParaRPr lang="en-US" sz="1100" dirty="0"/>
          </a:p>
        </p:txBody>
      </p:sp>
      <p:sp>
        <p:nvSpPr>
          <p:cNvPr id="13" name="Shape 11"/>
          <p:cNvSpPr/>
          <p:nvPr/>
        </p:nvSpPr>
        <p:spPr>
          <a:xfrm>
            <a:off x="6035040" y="1051560"/>
            <a:ext cx="2651760" cy="2926080"/>
          </a:xfrm>
          <a:prstGeom prst="roundRect">
            <a:avLst>
              <a:gd name="adj" fmla="val 4828"/>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4" name="Text 12"/>
          <p:cNvSpPr txBox="1"/>
          <p:nvPr/>
        </p:nvSpPr>
        <p:spPr>
          <a:xfrm>
            <a:off x="6172200" y="1188720"/>
            <a:ext cx="2377440" cy="274320"/>
          </a:xfrm>
          <a:prstGeom prst="rect">
            <a:avLst/>
          </a:prstGeom>
          <a:noFill/>
          <a:ln/>
        </p:spPr>
        <p:txBody>
          <a:bodyPr wrap="square" lIns="0" tIns="0" rIns="0" bIns="0" rtlCol="0" anchor="t"/>
          <a:lstStyle/>
          <a:p>
            <a:pPr indent="0" marL="0">
              <a:buNone/>
            </a:pPr>
            <a:r>
              <a:rPr lang="en-US" sz="1200" b="1" dirty="0">
                <a:solidFill>
                  <a:srgbClr val="1F2A44"/>
                </a:solidFill>
              </a:rPr>
              <a:t>ADMIN / DATA CURATOR</a:t>
            </a:r>
            <a:endParaRPr lang="en-US" sz="1200" dirty="0"/>
          </a:p>
        </p:txBody>
      </p:sp>
      <p:sp>
        <p:nvSpPr>
          <p:cNvPr id="15" name="Text 13"/>
          <p:cNvSpPr txBox="1"/>
          <p:nvPr/>
        </p:nvSpPr>
        <p:spPr>
          <a:xfrm>
            <a:off x="6172200" y="1508760"/>
            <a:ext cx="2377440" cy="502920"/>
          </a:xfrm>
          <a:prstGeom prst="rect">
            <a:avLst/>
          </a:prstGeom>
          <a:noFill/>
          <a:ln/>
        </p:spPr>
        <p:txBody>
          <a:bodyPr wrap="square" lIns="0" tIns="0" rIns="0" bIns="0" rtlCol="0" anchor="t"/>
          <a:lstStyle/>
          <a:p>
            <a:pPr indent="0" marL="0">
              <a:buNone/>
            </a:pPr>
            <a:r>
              <a:rPr lang="en-US" sz="1100" b="1" dirty="0">
                <a:solidFill>
                  <a:srgbClr val="22283A"/>
                </a:solidFill>
              </a:rPr>
              <a:t>Need: </a:t>
            </a:r>
            <a:pPr indent="0" marL="0">
              <a:buNone/>
            </a:pPr>
            <a:r>
              <a:rPr lang="en-US" sz="1100" dirty="0">
                <a:solidFill>
                  <a:srgbClr val="22283A"/>
                </a:solidFill>
              </a:rPr>
              <a:t>Maintain accurate project data</a:t>
            </a:r>
            <a:endParaRPr lang="en-US" sz="1100" dirty="0"/>
          </a:p>
        </p:txBody>
      </p:sp>
      <p:sp>
        <p:nvSpPr>
          <p:cNvPr id="16" name="Text 14"/>
          <p:cNvSpPr txBox="1"/>
          <p:nvPr/>
        </p:nvSpPr>
        <p:spPr>
          <a:xfrm>
            <a:off x="6172200" y="2103120"/>
            <a:ext cx="2377440" cy="10972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83A"/>
                </a:solidFill>
              </a:rPr>
              <a:t>Add and edit projects</a:t>
            </a:r>
            <a:endParaRPr lang="en-US" sz="1100" dirty="0"/>
          </a:p>
          <a:p>
            <a:pPr marL="342900" indent="-342900">
              <a:spcAft>
                <a:spcPts val="400"/>
              </a:spcAft>
              <a:buSzPct val="100000"/>
              <a:buChar char="•"/>
            </a:pPr>
            <a:r>
              <a:rPr lang="en-US" sz="1100" dirty="0">
                <a:solidFill>
                  <a:srgbClr val="22283A"/>
                </a:solidFill>
              </a:rPr>
              <a:t>Update stage and dates</a:t>
            </a:r>
            <a:endParaRPr lang="en-US" sz="1100" dirty="0"/>
          </a:p>
          <a:p>
            <a:pPr marL="342900" indent="-342900">
              <a:spcAft>
                <a:spcPts val="400"/>
              </a:spcAft>
              <a:buSzPct val="100000"/>
              <a:buChar char="•"/>
            </a:pPr>
            <a:r>
              <a:rPr lang="en-US" sz="1100" dirty="0">
                <a:solidFill>
                  <a:srgbClr val="22283A"/>
                </a:solidFill>
              </a:rPr>
              <a:t>Recalculate scores</a:t>
            </a:r>
            <a:endParaRPr lang="en-US" sz="1100" dirty="0"/>
          </a:p>
        </p:txBody>
      </p:sp>
      <p:sp>
        <p:nvSpPr>
          <p:cNvPr id="17" name="Text 15"/>
          <p:cNvSpPr txBox="1"/>
          <p:nvPr/>
        </p:nvSpPr>
        <p:spPr>
          <a:xfrm>
            <a:off x="6172200" y="3291840"/>
            <a:ext cx="2377440" cy="594360"/>
          </a:xfrm>
          <a:prstGeom prst="rect">
            <a:avLst/>
          </a:prstGeom>
          <a:noFill/>
          <a:ln/>
        </p:spPr>
        <p:txBody>
          <a:bodyPr wrap="square" lIns="0" tIns="0" rIns="0" bIns="0" rtlCol="0" anchor="t"/>
          <a:lstStyle/>
          <a:p>
            <a:pPr indent="0" marL="0">
              <a:buNone/>
            </a:pPr>
            <a:r>
              <a:rPr lang="en-US" sz="1100" b="1" dirty="0">
                <a:solidFill>
                  <a:srgbClr val="1F2A44"/>
                </a:solidFill>
              </a:rPr>
              <a:t>Value: </a:t>
            </a:r>
            <a:pPr indent="0" marL="0">
              <a:buNone/>
            </a:pPr>
            <a:r>
              <a:rPr lang="en-US" sz="1100" dirty="0">
                <a:solidFill>
                  <a:srgbClr val="22283A"/>
                </a:solidFill>
              </a:rPr>
              <a:t>Scores stay current and trustworthy</a:t>
            </a:r>
            <a:endParaRPr lang="en-US" sz="1100" dirty="0"/>
          </a:p>
        </p:txBody>
      </p:sp>
      <p:sp>
        <p:nvSpPr>
          <p:cNvPr id="18" name="Shape 16"/>
          <p:cNvSpPr/>
          <p:nvPr/>
        </p:nvSpPr>
        <p:spPr>
          <a:xfrm>
            <a:off x="457200" y="4114800"/>
            <a:ext cx="8229600" cy="548640"/>
          </a:xfrm>
          <a:prstGeom prst="roundRect">
            <a:avLst>
              <a:gd name="adj" fmla="val 23333"/>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9" name="Text 17"/>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100" b="1" dirty="0">
                <a:solidFill>
                  <a:srgbClr val="22283A"/>
                </a:solidFill>
              </a:rPr>
              <a:t>Planned interviews with Sangli realty firms: </a:t>
            </a:r>
            <a:pPr indent="0" marL="0">
              <a:buNone/>
            </a:pPr>
            <a:r>
              <a:rPr lang="en-US" sz="1100" dirty="0">
                <a:solidFill>
                  <a:srgbClr val="22283A"/>
                </a:solidFill>
              </a:rPr>
              <a:t>how they track infra announcements, which data points they trust, and whether they would pilot the platform.</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Proposed Methodology: Scoring Model</a:t>
            </a:r>
            <a:endParaRPr lang="en-US" sz="2600" dirty="0"/>
          </a:p>
        </p:txBody>
      </p:sp>
      <p:sp>
        <p:nvSpPr>
          <p:cNvPr id="3" name="Shape 1"/>
          <p:cNvSpPr/>
          <p:nvPr/>
        </p:nvSpPr>
        <p:spPr>
          <a:xfrm>
            <a:off x="457200" y="1051560"/>
            <a:ext cx="8229600" cy="868680"/>
          </a:xfrm>
          <a:prstGeom prst="roundRect">
            <a:avLst>
              <a:gd name="adj" fmla="val 14737"/>
            </a:avLst>
          </a:prstGeom>
          <a:solidFill>
            <a:srgbClr val="1F2A44"/>
          </a:solidFill>
          <a:ln/>
        </p:spPr>
      </p:sp>
      <p:sp>
        <p:nvSpPr>
          <p:cNvPr id="4" name="Text 2"/>
          <p:cNvSpPr txBox="1"/>
          <p:nvPr/>
        </p:nvSpPr>
        <p:spPr>
          <a:xfrm>
            <a:off x="457200" y="1115568"/>
            <a:ext cx="822960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Georgia" pitchFamily="34" charset="0"/>
                <a:ea typeface="Georgia" pitchFamily="34" charset="-122"/>
                <a:cs typeface="Georgia" pitchFamily="34" charset="-120"/>
              </a:rPr>
              <a:t>Impact = W(type) × e^(−d / d0) × C(stage) × T(year)</a:t>
            </a:r>
            <a:endParaRPr lang="en-US" sz="2000" dirty="0"/>
          </a:p>
        </p:txBody>
      </p:sp>
      <p:sp>
        <p:nvSpPr>
          <p:cNvPr id="5" name="Text 3"/>
          <p:cNvSpPr txBox="1"/>
          <p:nvPr/>
        </p:nvSpPr>
        <p:spPr>
          <a:xfrm>
            <a:off x="457200" y="1554480"/>
            <a:ext cx="8229600" cy="274320"/>
          </a:xfrm>
          <a:prstGeom prst="rect">
            <a:avLst/>
          </a:prstGeom>
          <a:noFill/>
          <a:ln/>
        </p:spPr>
        <p:txBody>
          <a:bodyPr wrap="square" lIns="0" tIns="0" rIns="0" bIns="0" rtlCol="0" anchor="t"/>
          <a:lstStyle/>
          <a:p>
            <a:pPr algn="ctr" indent="0" marL="0">
              <a:buNone/>
            </a:pPr>
            <a:r>
              <a:rPr lang="en-US" sz="1150" dirty="0">
                <a:solidFill>
                  <a:srgbClr val="C9D3EC"/>
                </a:solidFill>
              </a:rPr>
              <a:t>Area score = sum of category impacts (each capped), converted to a percentile rank across the city (0-100)</a:t>
            </a:r>
            <a:endParaRPr lang="en-US" sz="1150" dirty="0"/>
          </a:p>
        </p:txBody>
      </p:sp>
      <p:sp>
        <p:nvSpPr>
          <p:cNvPr id="6" name="Shape 4"/>
          <p:cNvSpPr/>
          <p:nvPr/>
        </p:nvSpPr>
        <p:spPr>
          <a:xfrm>
            <a:off x="457200" y="2194560"/>
            <a:ext cx="1956816" cy="1828800"/>
          </a:xfrm>
          <a:prstGeom prst="roundRect">
            <a:avLst>
              <a:gd name="adj" fmla="val 7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7" name="Text 5"/>
          <p:cNvSpPr txBox="1"/>
          <p:nvPr/>
        </p:nvSpPr>
        <p:spPr>
          <a:xfrm>
            <a:off x="566928" y="2331720"/>
            <a:ext cx="1737360" cy="320040"/>
          </a:xfrm>
          <a:prstGeom prst="rect">
            <a:avLst/>
          </a:prstGeom>
          <a:noFill/>
          <a:ln/>
        </p:spPr>
        <p:txBody>
          <a:bodyPr wrap="square" lIns="0" tIns="0" rIns="0" bIns="0" rtlCol="0" anchor="t"/>
          <a:lstStyle/>
          <a:p>
            <a:pPr indent="0" marL="0">
              <a:buNone/>
            </a:pPr>
            <a:r>
              <a:rPr lang="en-US" sz="1500" b="1" dirty="0">
                <a:solidFill>
                  <a:srgbClr val="3B5BA5"/>
                </a:solidFill>
                <a:latin typeface="Georgia" pitchFamily="34" charset="0"/>
                <a:ea typeface="Georgia" pitchFamily="34" charset="-122"/>
                <a:cs typeface="Georgia" pitchFamily="34" charset="-120"/>
              </a:rPr>
              <a:t>W(type)</a:t>
            </a:r>
            <a:endParaRPr lang="en-US" sz="1500" dirty="0"/>
          </a:p>
        </p:txBody>
      </p:sp>
      <p:sp>
        <p:nvSpPr>
          <p:cNvPr id="8" name="Text 6"/>
          <p:cNvSpPr txBox="1"/>
          <p:nvPr/>
        </p:nvSpPr>
        <p:spPr>
          <a:xfrm>
            <a:off x="566928" y="2697480"/>
            <a:ext cx="1737360" cy="274320"/>
          </a:xfrm>
          <a:prstGeom prst="rect">
            <a:avLst/>
          </a:prstGeom>
          <a:noFill/>
          <a:ln/>
        </p:spPr>
        <p:txBody>
          <a:bodyPr wrap="square" lIns="0" tIns="0" rIns="0" bIns="0" rtlCol="0" anchor="t"/>
          <a:lstStyle/>
          <a:p>
            <a:pPr indent="0" marL="0">
              <a:buNone/>
            </a:pPr>
            <a:r>
              <a:rPr lang="en-US" sz="1250" b="1" dirty="0">
                <a:solidFill>
                  <a:srgbClr val="22283A"/>
                </a:solidFill>
              </a:rPr>
              <a:t>Type weight</a:t>
            </a:r>
            <a:endParaRPr lang="en-US" sz="1250" dirty="0"/>
          </a:p>
        </p:txBody>
      </p:sp>
      <p:sp>
        <p:nvSpPr>
          <p:cNvPr id="9" name="Text 7"/>
          <p:cNvSpPr txBox="1"/>
          <p:nvPr/>
        </p:nvSpPr>
        <p:spPr>
          <a:xfrm>
            <a:off x="566928" y="3017520"/>
            <a:ext cx="1737360" cy="914400"/>
          </a:xfrm>
          <a:prstGeom prst="rect">
            <a:avLst/>
          </a:prstGeom>
          <a:noFill/>
          <a:ln/>
        </p:spPr>
        <p:txBody>
          <a:bodyPr wrap="square" lIns="0" tIns="0" rIns="0" bIns="0" rtlCol="0" anchor="t"/>
          <a:lstStyle/>
          <a:p>
            <a:pPr indent="0" marL="0">
              <a:buNone/>
            </a:pPr>
            <a:r>
              <a:rPr lang="en-US" sz="1050" dirty="0">
                <a:solidFill>
                  <a:srgbClr val="5E6A73"/>
                </a:solidFill>
              </a:rPr>
              <a:t>Importance of project type, set by AHP with local experts.</a:t>
            </a:r>
            <a:endParaRPr lang="en-US" sz="1050" dirty="0"/>
          </a:p>
        </p:txBody>
      </p:sp>
      <p:sp>
        <p:nvSpPr>
          <p:cNvPr id="10" name="Shape 8"/>
          <p:cNvSpPr/>
          <p:nvPr/>
        </p:nvSpPr>
        <p:spPr>
          <a:xfrm>
            <a:off x="2542032" y="2194560"/>
            <a:ext cx="1956816" cy="1828800"/>
          </a:xfrm>
          <a:prstGeom prst="roundRect">
            <a:avLst>
              <a:gd name="adj" fmla="val 7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1" name="Text 9"/>
          <p:cNvSpPr txBox="1"/>
          <p:nvPr/>
        </p:nvSpPr>
        <p:spPr>
          <a:xfrm>
            <a:off x="2651760" y="2331720"/>
            <a:ext cx="1737360" cy="320040"/>
          </a:xfrm>
          <a:prstGeom prst="rect">
            <a:avLst/>
          </a:prstGeom>
          <a:noFill/>
          <a:ln/>
        </p:spPr>
        <p:txBody>
          <a:bodyPr wrap="square" lIns="0" tIns="0" rIns="0" bIns="0" rtlCol="0" anchor="t"/>
          <a:lstStyle/>
          <a:p>
            <a:pPr indent="0" marL="0">
              <a:buNone/>
            </a:pPr>
            <a:r>
              <a:rPr lang="en-US" sz="1500" b="1" dirty="0">
                <a:solidFill>
                  <a:srgbClr val="E4572E"/>
                </a:solidFill>
                <a:latin typeface="Georgia" pitchFamily="34" charset="0"/>
                <a:ea typeface="Georgia" pitchFamily="34" charset="-122"/>
                <a:cs typeface="Georgia" pitchFamily="34" charset="-120"/>
              </a:rPr>
              <a:t>e^(−d/d0)</a:t>
            </a:r>
            <a:endParaRPr lang="en-US" sz="1500" dirty="0"/>
          </a:p>
        </p:txBody>
      </p:sp>
      <p:sp>
        <p:nvSpPr>
          <p:cNvPr id="12" name="Text 10"/>
          <p:cNvSpPr txBox="1"/>
          <p:nvPr/>
        </p:nvSpPr>
        <p:spPr>
          <a:xfrm>
            <a:off x="2651760" y="2697480"/>
            <a:ext cx="1737360" cy="274320"/>
          </a:xfrm>
          <a:prstGeom prst="rect">
            <a:avLst/>
          </a:prstGeom>
          <a:noFill/>
          <a:ln/>
        </p:spPr>
        <p:txBody>
          <a:bodyPr wrap="square" lIns="0" tIns="0" rIns="0" bIns="0" rtlCol="0" anchor="t"/>
          <a:lstStyle/>
          <a:p>
            <a:pPr indent="0" marL="0">
              <a:buNone/>
            </a:pPr>
            <a:r>
              <a:rPr lang="en-US" sz="1250" b="1" dirty="0">
                <a:solidFill>
                  <a:srgbClr val="22283A"/>
                </a:solidFill>
              </a:rPr>
              <a:t>Distance decay</a:t>
            </a:r>
            <a:endParaRPr lang="en-US" sz="1250" dirty="0"/>
          </a:p>
        </p:txBody>
      </p:sp>
      <p:sp>
        <p:nvSpPr>
          <p:cNvPr id="13" name="Text 11"/>
          <p:cNvSpPr txBox="1"/>
          <p:nvPr/>
        </p:nvSpPr>
        <p:spPr>
          <a:xfrm>
            <a:off x="2651760" y="3017520"/>
            <a:ext cx="1737360" cy="914400"/>
          </a:xfrm>
          <a:prstGeom prst="rect">
            <a:avLst/>
          </a:prstGeom>
          <a:noFill/>
          <a:ln/>
        </p:spPr>
        <p:txBody>
          <a:bodyPr wrap="square" lIns="0" tIns="0" rIns="0" bIns="0" rtlCol="0" anchor="t"/>
          <a:lstStyle/>
          <a:p>
            <a:pPr indent="0" marL="0">
              <a:buNone/>
            </a:pPr>
            <a:r>
              <a:rPr lang="en-US" sz="1050" dirty="0">
                <a:solidFill>
                  <a:srgbClr val="5E6A73"/>
                </a:solidFill>
              </a:rPr>
              <a:t>Haversine distance d; each type has its own reach d0.</a:t>
            </a:r>
            <a:endParaRPr lang="en-US" sz="1050" dirty="0"/>
          </a:p>
        </p:txBody>
      </p:sp>
      <p:sp>
        <p:nvSpPr>
          <p:cNvPr id="14" name="Shape 12"/>
          <p:cNvSpPr/>
          <p:nvPr/>
        </p:nvSpPr>
        <p:spPr>
          <a:xfrm>
            <a:off x="4626864" y="2194560"/>
            <a:ext cx="1956816" cy="1828800"/>
          </a:xfrm>
          <a:prstGeom prst="roundRect">
            <a:avLst>
              <a:gd name="adj" fmla="val 7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5" name="Text 13"/>
          <p:cNvSpPr txBox="1"/>
          <p:nvPr/>
        </p:nvSpPr>
        <p:spPr>
          <a:xfrm>
            <a:off x="4736592" y="2331720"/>
            <a:ext cx="1737360" cy="320040"/>
          </a:xfrm>
          <a:prstGeom prst="rect">
            <a:avLst/>
          </a:prstGeom>
          <a:noFill/>
          <a:ln/>
        </p:spPr>
        <p:txBody>
          <a:bodyPr wrap="square" lIns="0" tIns="0" rIns="0" bIns="0" rtlCol="0" anchor="t"/>
          <a:lstStyle/>
          <a:p>
            <a:pPr indent="0" marL="0">
              <a:buNone/>
            </a:pPr>
            <a:r>
              <a:rPr lang="en-US" sz="1500" b="1" dirty="0">
                <a:solidFill>
                  <a:srgbClr val="B26A00"/>
                </a:solidFill>
                <a:latin typeface="Georgia" pitchFamily="34" charset="0"/>
                <a:ea typeface="Georgia" pitchFamily="34" charset="-122"/>
                <a:cs typeface="Georgia" pitchFamily="34" charset="-120"/>
              </a:rPr>
              <a:t>C(stage)</a:t>
            </a:r>
            <a:endParaRPr lang="en-US" sz="1500" dirty="0"/>
          </a:p>
        </p:txBody>
      </p:sp>
      <p:sp>
        <p:nvSpPr>
          <p:cNvPr id="16" name="Text 14"/>
          <p:cNvSpPr txBox="1"/>
          <p:nvPr/>
        </p:nvSpPr>
        <p:spPr>
          <a:xfrm>
            <a:off x="4736592" y="2697480"/>
            <a:ext cx="1737360" cy="274320"/>
          </a:xfrm>
          <a:prstGeom prst="rect">
            <a:avLst/>
          </a:prstGeom>
          <a:noFill/>
          <a:ln/>
        </p:spPr>
        <p:txBody>
          <a:bodyPr wrap="square" lIns="0" tIns="0" rIns="0" bIns="0" rtlCol="0" anchor="t"/>
          <a:lstStyle/>
          <a:p>
            <a:pPr indent="0" marL="0">
              <a:buNone/>
            </a:pPr>
            <a:r>
              <a:rPr lang="en-US" sz="1250" b="1" dirty="0">
                <a:solidFill>
                  <a:srgbClr val="22283A"/>
                </a:solidFill>
              </a:rPr>
              <a:t>Status certainty</a:t>
            </a:r>
            <a:endParaRPr lang="en-US" sz="1250" dirty="0"/>
          </a:p>
        </p:txBody>
      </p:sp>
      <p:sp>
        <p:nvSpPr>
          <p:cNvPr id="17" name="Text 15"/>
          <p:cNvSpPr txBox="1"/>
          <p:nvPr/>
        </p:nvSpPr>
        <p:spPr>
          <a:xfrm>
            <a:off x="4736592" y="3017520"/>
            <a:ext cx="1737360" cy="914400"/>
          </a:xfrm>
          <a:prstGeom prst="rect">
            <a:avLst/>
          </a:prstGeom>
          <a:noFill/>
          <a:ln/>
        </p:spPr>
        <p:txBody>
          <a:bodyPr wrap="square" lIns="0" tIns="0" rIns="0" bIns="0" rtlCol="0" anchor="t"/>
          <a:lstStyle/>
          <a:p>
            <a:pPr indent="0" marL="0">
              <a:buNone/>
            </a:pPr>
            <a:r>
              <a:rPr lang="en-US" sz="1050" dirty="0">
                <a:solidFill>
                  <a:srgbClr val="5E6A73"/>
                </a:solidFill>
              </a:rPr>
              <a:t>Proposed 0.2, approved 0.4, funded 0.7, building 0.9, done 1.0.</a:t>
            </a:r>
            <a:endParaRPr lang="en-US" sz="1050" dirty="0"/>
          </a:p>
        </p:txBody>
      </p:sp>
      <p:sp>
        <p:nvSpPr>
          <p:cNvPr id="18" name="Shape 16"/>
          <p:cNvSpPr/>
          <p:nvPr/>
        </p:nvSpPr>
        <p:spPr>
          <a:xfrm>
            <a:off x="6711696" y="2194560"/>
            <a:ext cx="1956816" cy="1828800"/>
          </a:xfrm>
          <a:prstGeom prst="roundRect">
            <a:avLst>
              <a:gd name="adj" fmla="val 7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9" name="Text 17"/>
          <p:cNvSpPr txBox="1"/>
          <p:nvPr/>
        </p:nvSpPr>
        <p:spPr>
          <a:xfrm>
            <a:off x="6821424" y="2331720"/>
            <a:ext cx="1737360" cy="320040"/>
          </a:xfrm>
          <a:prstGeom prst="rect">
            <a:avLst/>
          </a:prstGeom>
          <a:noFill/>
          <a:ln/>
        </p:spPr>
        <p:txBody>
          <a:bodyPr wrap="square" lIns="0" tIns="0" rIns="0" bIns="0" rtlCol="0" anchor="t"/>
          <a:lstStyle/>
          <a:p>
            <a:pPr indent="0" marL="0">
              <a:buNone/>
            </a:pPr>
            <a:r>
              <a:rPr lang="en-US" sz="1500" b="1" dirty="0">
                <a:solidFill>
                  <a:srgbClr val="3B6E8F"/>
                </a:solidFill>
                <a:latin typeface="Georgia" pitchFamily="34" charset="0"/>
                <a:ea typeface="Georgia" pitchFamily="34" charset="-122"/>
                <a:cs typeface="Georgia" pitchFamily="34" charset="-120"/>
              </a:rPr>
              <a:t>T(year)</a:t>
            </a:r>
            <a:endParaRPr lang="en-US" sz="1500" dirty="0"/>
          </a:p>
        </p:txBody>
      </p:sp>
      <p:sp>
        <p:nvSpPr>
          <p:cNvPr id="20" name="Text 18"/>
          <p:cNvSpPr txBox="1"/>
          <p:nvPr/>
        </p:nvSpPr>
        <p:spPr>
          <a:xfrm>
            <a:off x="6821424" y="2697480"/>
            <a:ext cx="1737360" cy="274320"/>
          </a:xfrm>
          <a:prstGeom prst="rect">
            <a:avLst/>
          </a:prstGeom>
          <a:noFill/>
          <a:ln/>
        </p:spPr>
        <p:txBody>
          <a:bodyPr wrap="square" lIns="0" tIns="0" rIns="0" bIns="0" rtlCol="0" anchor="t"/>
          <a:lstStyle/>
          <a:p>
            <a:pPr indent="0" marL="0">
              <a:buNone/>
            </a:pPr>
            <a:r>
              <a:rPr lang="en-US" sz="1250" b="1" dirty="0">
                <a:solidFill>
                  <a:srgbClr val="22283A"/>
                </a:solidFill>
              </a:rPr>
              <a:t>Timing</a:t>
            </a:r>
            <a:endParaRPr lang="en-US" sz="1250" dirty="0"/>
          </a:p>
        </p:txBody>
      </p:sp>
      <p:sp>
        <p:nvSpPr>
          <p:cNvPr id="21" name="Text 19"/>
          <p:cNvSpPr txBox="1"/>
          <p:nvPr/>
        </p:nvSpPr>
        <p:spPr>
          <a:xfrm>
            <a:off x="6821424" y="3017520"/>
            <a:ext cx="1737360" cy="914400"/>
          </a:xfrm>
          <a:prstGeom prst="rect">
            <a:avLst/>
          </a:prstGeom>
          <a:noFill/>
          <a:ln/>
        </p:spPr>
        <p:txBody>
          <a:bodyPr wrap="square" lIns="0" tIns="0" rIns="0" bIns="0" rtlCol="0" anchor="t"/>
          <a:lstStyle/>
          <a:p>
            <a:pPr indent="0" marL="0">
              <a:buNone/>
            </a:pPr>
            <a:r>
              <a:rPr lang="en-US" sz="1050" dirty="0">
                <a:solidFill>
                  <a:srgbClr val="5E6A73"/>
                </a:solidFill>
              </a:rPr>
              <a:t>Sooner completion counts more; delayed projects are penalised.</a:t>
            </a:r>
            <a:endParaRPr lang="en-US" sz="1050" dirty="0"/>
          </a:p>
        </p:txBody>
      </p:sp>
      <p:sp>
        <p:nvSpPr>
          <p:cNvPr id="22" name="Text 20"/>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100" i="1" dirty="0">
                <a:solidFill>
                  <a:srgbClr val="5E6A73"/>
                </a:solidFill>
              </a:rPr>
              <a:t>Capping each category stops one mega-project dominating. Weights are tested with ±20% sensitivity checks and later a back-test. Land-type conditions (agricultural or NA) appear as flags beside the score.</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System Architecture</a:t>
            </a:r>
            <a:endParaRPr lang="en-US" sz="2600" dirty="0"/>
          </a:p>
        </p:txBody>
      </p:sp>
      <p:sp>
        <p:nvSpPr>
          <p:cNvPr id="3" name="Shape 1"/>
          <p:cNvSpPr/>
          <p:nvPr/>
        </p:nvSpPr>
        <p:spPr>
          <a:xfrm>
            <a:off x="457200" y="1188720"/>
            <a:ext cx="1463040" cy="1737360"/>
          </a:xfrm>
          <a:prstGeom prst="roundRect">
            <a:avLst>
              <a:gd name="adj" fmla="val 8750"/>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Text 2"/>
          <p:cNvSpPr txBox="1"/>
          <p:nvPr/>
        </p:nvSpPr>
        <p:spPr>
          <a:xfrm>
            <a:off x="566928" y="1261872"/>
            <a:ext cx="365760" cy="365760"/>
          </a:xfrm>
          <a:prstGeom prst="rect">
            <a:avLst/>
          </a:prstGeom>
          <a:noFill/>
          <a:ln/>
        </p:spPr>
        <p:txBody>
          <a:bodyPr wrap="square" lIns="0" tIns="0" rIns="0" bIns="0" rtlCol="0" anchor="t"/>
          <a:lstStyle/>
          <a:p>
            <a:pPr indent="0" marL="0">
              <a:buNone/>
            </a:pPr>
            <a:r>
              <a:rPr lang="en-US" sz="2000" b="1" dirty="0">
                <a:solidFill>
                  <a:srgbClr val="E4572E"/>
                </a:solidFill>
                <a:latin typeface="Georgia" pitchFamily="34" charset="0"/>
                <a:ea typeface="Georgia" pitchFamily="34" charset="-122"/>
                <a:cs typeface="Georgia" pitchFamily="34" charset="-120"/>
              </a:rPr>
              <a:t>1</a:t>
            </a:r>
            <a:endParaRPr lang="en-US" sz="2000" dirty="0"/>
          </a:p>
        </p:txBody>
      </p:sp>
      <p:sp>
        <p:nvSpPr>
          <p:cNvPr id="5" name="Text 3"/>
          <p:cNvSpPr txBox="1"/>
          <p:nvPr/>
        </p:nvSpPr>
        <p:spPr>
          <a:xfrm>
            <a:off x="566928" y="1691640"/>
            <a:ext cx="1261872" cy="365760"/>
          </a:xfrm>
          <a:prstGeom prst="rect">
            <a:avLst/>
          </a:prstGeom>
          <a:noFill/>
          <a:ln/>
        </p:spPr>
        <p:txBody>
          <a:bodyPr wrap="square" lIns="0" tIns="0" rIns="0" bIns="0" rtlCol="0" anchor="t"/>
          <a:lstStyle/>
          <a:p>
            <a:pPr indent="0" marL="0">
              <a:buNone/>
            </a:pPr>
            <a:r>
              <a:rPr lang="en-US" sz="1250" b="1" dirty="0">
                <a:solidFill>
                  <a:srgbClr val="1F2A44"/>
                </a:solidFill>
              </a:rPr>
              <a:t>Source notices</a:t>
            </a:r>
            <a:endParaRPr lang="en-US" sz="1250" dirty="0"/>
          </a:p>
        </p:txBody>
      </p:sp>
      <p:sp>
        <p:nvSpPr>
          <p:cNvPr id="6" name="Text 4"/>
          <p:cNvSpPr txBox="1"/>
          <p:nvPr/>
        </p:nvSpPr>
        <p:spPr>
          <a:xfrm>
            <a:off x="566928" y="2103120"/>
            <a:ext cx="1261872" cy="777240"/>
          </a:xfrm>
          <a:prstGeom prst="rect">
            <a:avLst/>
          </a:prstGeom>
          <a:noFill/>
          <a:ln/>
        </p:spPr>
        <p:txBody>
          <a:bodyPr wrap="square" lIns="0" tIns="0" rIns="0" bIns="0" rtlCol="0" anchor="t"/>
          <a:lstStyle/>
          <a:p>
            <a:pPr indent="0" marL="0">
              <a:buNone/>
            </a:pPr>
            <a:r>
              <a:rPr lang="en-US" sz="1050" dirty="0">
                <a:solidFill>
                  <a:srgbClr val="5E6A73"/>
                </a:solidFill>
              </a:rPr>
              <a:t>Municipal, PWD, MIDC, NHAI, railway</a:t>
            </a:r>
            <a:endParaRPr lang="en-US" sz="1050" dirty="0"/>
          </a:p>
        </p:txBody>
      </p:sp>
      <p:sp>
        <p:nvSpPr>
          <p:cNvPr id="7" name="Text 5"/>
          <p:cNvSpPr txBox="1"/>
          <p:nvPr/>
        </p:nvSpPr>
        <p:spPr>
          <a:xfrm>
            <a:off x="1920240" y="1783080"/>
            <a:ext cx="219456" cy="365760"/>
          </a:xfrm>
          <a:prstGeom prst="rect">
            <a:avLst/>
          </a:prstGeom>
          <a:noFill/>
          <a:ln/>
        </p:spPr>
        <p:txBody>
          <a:bodyPr wrap="square" lIns="0" tIns="0" rIns="0" bIns="0" rtlCol="0" anchor="t"/>
          <a:lstStyle/>
          <a:p>
            <a:pPr algn="ctr" indent="0" marL="0">
              <a:buNone/>
            </a:pPr>
            <a:r>
              <a:rPr lang="en-US" sz="2200" b="1" dirty="0">
                <a:solidFill>
                  <a:srgbClr val="3B5BA5"/>
                </a:solidFill>
              </a:rPr>
              <a:t>›</a:t>
            </a:r>
            <a:endParaRPr lang="en-US" sz="2200" dirty="0"/>
          </a:p>
        </p:txBody>
      </p:sp>
      <p:sp>
        <p:nvSpPr>
          <p:cNvPr id="8" name="Shape 6"/>
          <p:cNvSpPr/>
          <p:nvPr/>
        </p:nvSpPr>
        <p:spPr>
          <a:xfrm>
            <a:off x="2139696" y="1188720"/>
            <a:ext cx="1463040" cy="1737360"/>
          </a:xfrm>
          <a:prstGeom prst="roundRect">
            <a:avLst>
              <a:gd name="adj" fmla="val 875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9" name="Text 7"/>
          <p:cNvSpPr txBox="1"/>
          <p:nvPr/>
        </p:nvSpPr>
        <p:spPr>
          <a:xfrm>
            <a:off x="2249424" y="1261872"/>
            <a:ext cx="365760" cy="365760"/>
          </a:xfrm>
          <a:prstGeom prst="rect">
            <a:avLst/>
          </a:prstGeom>
          <a:noFill/>
          <a:ln/>
        </p:spPr>
        <p:txBody>
          <a:bodyPr wrap="square" lIns="0" tIns="0" rIns="0" bIns="0" rtlCol="0" anchor="t"/>
          <a:lstStyle/>
          <a:p>
            <a:pPr indent="0" marL="0">
              <a:buNone/>
            </a:pPr>
            <a:r>
              <a:rPr lang="en-US" sz="2000" b="1" dirty="0">
                <a:solidFill>
                  <a:srgbClr val="E4572E"/>
                </a:solidFill>
                <a:latin typeface="Georgia" pitchFamily="34" charset="0"/>
                <a:ea typeface="Georgia" pitchFamily="34" charset="-122"/>
                <a:cs typeface="Georgia" pitchFamily="34" charset="-120"/>
              </a:rPr>
              <a:t>2</a:t>
            </a:r>
            <a:endParaRPr lang="en-US" sz="2000" dirty="0"/>
          </a:p>
        </p:txBody>
      </p:sp>
      <p:sp>
        <p:nvSpPr>
          <p:cNvPr id="10" name="Text 8"/>
          <p:cNvSpPr txBox="1"/>
          <p:nvPr/>
        </p:nvSpPr>
        <p:spPr>
          <a:xfrm>
            <a:off x="2249424" y="1691640"/>
            <a:ext cx="1261872" cy="365760"/>
          </a:xfrm>
          <a:prstGeom prst="rect">
            <a:avLst/>
          </a:prstGeom>
          <a:noFill/>
          <a:ln/>
        </p:spPr>
        <p:txBody>
          <a:bodyPr wrap="square" lIns="0" tIns="0" rIns="0" bIns="0" rtlCol="0" anchor="t"/>
          <a:lstStyle/>
          <a:p>
            <a:pPr indent="0" marL="0">
              <a:buNone/>
            </a:pPr>
            <a:r>
              <a:rPr lang="en-US" sz="1250" b="1" dirty="0">
                <a:solidFill>
                  <a:srgbClr val="1F2A44"/>
                </a:solidFill>
              </a:rPr>
              <a:t>Admin registry</a:t>
            </a:r>
            <a:endParaRPr lang="en-US" sz="1250" dirty="0"/>
          </a:p>
        </p:txBody>
      </p:sp>
      <p:sp>
        <p:nvSpPr>
          <p:cNvPr id="11" name="Text 9"/>
          <p:cNvSpPr txBox="1"/>
          <p:nvPr/>
        </p:nvSpPr>
        <p:spPr>
          <a:xfrm>
            <a:off x="2249424" y="2103120"/>
            <a:ext cx="1261872" cy="777240"/>
          </a:xfrm>
          <a:prstGeom prst="rect">
            <a:avLst/>
          </a:prstGeom>
          <a:noFill/>
          <a:ln/>
        </p:spPr>
        <p:txBody>
          <a:bodyPr wrap="square" lIns="0" tIns="0" rIns="0" bIns="0" rtlCol="0" anchor="t"/>
          <a:lstStyle/>
          <a:p>
            <a:pPr indent="0" marL="0">
              <a:buNone/>
            </a:pPr>
            <a:r>
              <a:rPr lang="en-US" sz="1050" dirty="0">
                <a:solidFill>
                  <a:srgbClr val="5E6A73"/>
                </a:solidFill>
              </a:rPr>
              <a:t>Project type, location, stage, year</a:t>
            </a:r>
            <a:endParaRPr lang="en-US" sz="1050" dirty="0"/>
          </a:p>
        </p:txBody>
      </p:sp>
      <p:sp>
        <p:nvSpPr>
          <p:cNvPr id="12" name="Text 10"/>
          <p:cNvSpPr txBox="1"/>
          <p:nvPr/>
        </p:nvSpPr>
        <p:spPr>
          <a:xfrm>
            <a:off x="3602736" y="1783080"/>
            <a:ext cx="219456" cy="365760"/>
          </a:xfrm>
          <a:prstGeom prst="rect">
            <a:avLst/>
          </a:prstGeom>
          <a:noFill/>
          <a:ln/>
        </p:spPr>
        <p:txBody>
          <a:bodyPr wrap="square" lIns="0" tIns="0" rIns="0" bIns="0" rtlCol="0" anchor="t"/>
          <a:lstStyle/>
          <a:p>
            <a:pPr algn="ctr" indent="0" marL="0">
              <a:buNone/>
            </a:pPr>
            <a:r>
              <a:rPr lang="en-US" sz="2200" b="1" dirty="0">
                <a:solidFill>
                  <a:srgbClr val="3B5BA5"/>
                </a:solidFill>
              </a:rPr>
              <a:t>›</a:t>
            </a:r>
            <a:endParaRPr lang="en-US" sz="2200" dirty="0"/>
          </a:p>
        </p:txBody>
      </p:sp>
      <p:sp>
        <p:nvSpPr>
          <p:cNvPr id="13" name="Shape 11"/>
          <p:cNvSpPr/>
          <p:nvPr/>
        </p:nvSpPr>
        <p:spPr>
          <a:xfrm>
            <a:off x="3822192" y="1188720"/>
            <a:ext cx="1463040" cy="1737360"/>
          </a:xfrm>
          <a:prstGeom prst="roundRect">
            <a:avLst>
              <a:gd name="adj" fmla="val 8750"/>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4" name="Text 12"/>
          <p:cNvSpPr txBox="1"/>
          <p:nvPr/>
        </p:nvSpPr>
        <p:spPr>
          <a:xfrm>
            <a:off x="3931920" y="1261872"/>
            <a:ext cx="365760" cy="365760"/>
          </a:xfrm>
          <a:prstGeom prst="rect">
            <a:avLst/>
          </a:prstGeom>
          <a:noFill/>
          <a:ln/>
        </p:spPr>
        <p:txBody>
          <a:bodyPr wrap="square" lIns="0" tIns="0" rIns="0" bIns="0" rtlCol="0" anchor="t"/>
          <a:lstStyle/>
          <a:p>
            <a:pPr indent="0" marL="0">
              <a:buNone/>
            </a:pPr>
            <a:r>
              <a:rPr lang="en-US" sz="2000" b="1" dirty="0">
                <a:solidFill>
                  <a:srgbClr val="E4572E"/>
                </a:solidFill>
                <a:latin typeface="Georgia" pitchFamily="34" charset="0"/>
                <a:ea typeface="Georgia" pitchFamily="34" charset="-122"/>
                <a:cs typeface="Georgia" pitchFamily="34" charset="-120"/>
              </a:rPr>
              <a:t>3</a:t>
            </a:r>
            <a:endParaRPr lang="en-US" sz="2000" dirty="0"/>
          </a:p>
        </p:txBody>
      </p:sp>
      <p:sp>
        <p:nvSpPr>
          <p:cNvPr id="15" name="Text 13"/>
          <p:cNvSpPr txBox="1"/>
          <p:nvPr/>
        </p:nvSpPr>
        <p:spPr>
          <a:xfrm>
            <a:off x="3931920" y="1691640"/>
            <a:ext cx="1261872" cy="365760"/>
          </a:xfrm>
          <a:prstGeom prst="rect">
            <a:avLst/>
          </a:prstGeom>
          <a:noFill/>
          <a:ln/>
        </p:spPr>
        <p:txBody>
          <a:bodyPr wrap="square" lIns="0" tIns="0" rIns="0" bIns="0" rtlCol="0" anchor="t"/>
          <a:lstStyle/>
          <a:p>
            <a:pPr indent="0" marL="0">
              <a:buNone/>
            </a:pPr>
            <a:r>
              <a:rPr lang="en-US" sz="1250" b="1" dirty="0">
                <a:solidFill>
                  <a:srgbClr val="1F2A44"/>
                </a:solidFill>
              </a:rPr>
              <a:t>Scoring engine</a:t>
            </a:r>
            <a:endParaRPr lang="en-US" sz="1250" dirty="0"/>
          </a:p>
        </p:txBody>
      </p:sp>
      <p:sp>
        <p:nvSpPr>
          <p:cNvPr id="16" name="Text 14"/>
          <p:cNvSpPr txBox="1"/>
          <p:nvPr/>
        </p:nvSpPr>
        <p:spPr>
          <a:xfrm>
            <a:off x="3931920" y="2103120"/>
            <a:ext cx="1261872" cy="777240"/>
          </a:xfrm>
          <a:prstGeom prst="rect">
            <a:avLst/>
          </a:prstGeom>
          <a:noFill/>
          <a:ln/>
        </p:spPr>
        <p:txBody>
          <a:bodyPr wrap="square" lIns="0" tIns="0" rIns="0" bIns="0" rtlCol="0" anchor="t"/>
          <a:lstStyle/>
          <a:p>
            <a:pPr indent="0" marL="0">
              <a:buNone/>
            </a:pPr>
            <a:r>
              <a:rPr lang="en-US" sz="1050" dirty="0">
                <a:solidFill>
                  <a:srgbClr val="5E6A73"/>
                </a:solidFill>
              </a:rPr>
              <a:t>Node/Express, rule-based formula</a:t>
            </a:r>
            <a:endParaRPr lang="en-US" sz="1050" dirty="0"/>
          </a:p>
        </p:txBody>
      </p:sp>
      <p:sp>
        <p:nvSpPr>
          <p:cNvPr id="17" name="Text 15"/>
          <p:cNvSpPr txBox="1"/>
          <p:nvPr/>
        </p:nvSpPr>
        <p:spPr>
          <a:xfrm>
            <a:off x="5285232" y="1783080"/>
            <a:ext cx="219456" cy="365760"/>
          </a:xfrm>
          <a:prstGeom prst="rect">
            <a:avLst/>
          </a:prstGeom>
          <a:noFill/>
          <a:ln/>
        </p:spPr>
        <p:txBody>
          <a:bodyPr wrap="square" lIns="0" tIns="0" rIns="0" bIns="0" rtlCol="0" anchor="t"/>
          <a:lstStyle/>
          <a:p>
            <a:pPr algn="ctr" indent="0" marL="0">
              <a:buNone/>
            </a:pPr>
            <a:r>
              <a:rPr lang="en-US" sz="2200" b="1" dirty="0">
                <a:solidFill>
                  <a:srgbClr val="3B5BA5"/>
                </a:solidFill>
              </a:rPr>
              <a:t>›</a:t>
            </a:r>
            <a:endParaRPr lang="en-US" sz="2200" dirty="0"/>
          </a:p>
        </p:txBody>
      </p:sp>
      <p:sp>
        <p:nvSpPr>
          <p:cNvPr id="18" name="Shape 16"/>
          <p:cNvSpPr/>
          <p:nvPr/>
        </p:nvSpPr>
        <p:spPr>
          <a:xfrm>
            <a:off x="5504688" y="1188720"/>
            <a:ext cx="1463040" cy="1737360"/>
          </a:xfrm>
          <a:prstGeom prst="roundRect">
            <a:avLst>
              <a:gd name="adj" fmla="val 875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9" name="Text 17"/>
          <p:cNvSpPr txBox="1"/>
          <p:nvPr/>
        </p:nvSpPr>
        <p:spPr>
          <a:xfrm>
            <a:off x="5614416" y="1261872"/>
            <a:ext cx="365760" cy="365760"/>
          </a:xfrm>
          <a:prstGeom prst="rect">
            <a:avLst/>
          </a:prstGeom>
          <a:noFill/>
          <a:ln/>
        </p:spPr>
        <p:txBody>
          <a:bodyPr wrap="square" lIns="0" tIns="0" rIns="0" bIns="0" rtlCol="0" anchor="t"/>
          <a:lstStyle/>
          <a:p>
            <a:pPr indent="0" marL="0">
              <a:buNone/>
            </a:pPr>
            <a:r>
              <a:rPr lang="en-US" sz="2000" b="1" dirty="0">
                <a:solidFill>
                  <a:srgbClr val="E4572E"/>
                </a:solidFill>
                <a:latin typeface="Georgia" pitchFamily="34" charset="0"/>
                <a:ea typeface="Georgia" pitchFamily="34" charset="-122"/>
                <a:cs typeface="Georgia" pitchFamily="34" charset="-120"/>
              </a:rPr>
              <a:t>4</a:t>
            </a:r>
            <a:endParaRPr lang="en-US" sz="2000" dirty="0"/>
          </a:p>
        </p:txBody>
      </p:sp>
      <p:sp>
        <p:nvSpPr>
          <p:cNvPr id="20" name="Text 18"/>
          <p:cNvSpPr txBox="1"/>
          <p:nvPr/>
        </p:nvSpPr>
        <p:spPr>
          <a:xfrm>
            <a:off x="5614416" y="1691640"/>
            <a:ext cx="1261872" cy="365760"/>
          </a:xfrm>
          <a:prstGeom prst="rect">
            <a:avLst/>
          </a:prstGeom>
          <a:noFill/>
          <a:ln/>
        </p:spPr>
        <p:txBody>
          <a:bodyPr wrap="square" lIns="0" tIns="0" rIns="0" bIns="0" rtlCol="0" anchor="t"/>
          <a:lstStyle/>
          <a:p>
            <a:pPr indent="0" marL="0">
              <a:buNone/>
            </a:pPr>
            <a:r>
              <a:rPr lang="en-US" sz="1250" b="1" dirty="0">
                <a:solidFill>
                  <a:srgbClr val="1F2A44"/>
                </a:solidFill>
              </a:rPr>
              <a:t>REST API</a:t>
            </a:r>
            <a:endParaRPr lang="en-US" sz="1250" dirty="0"/>
          </a:p>
        </p:txBody>
      </p:sp>
      <p:sp>
        <p:nvSpPr>
          <p:cNvPr id="21" name="Text 19"/>
          <p:cNvSpPr txBox="1"/>
          <p:nvPr/>
        </p:nvSpPr>
        <p:spPr>
          <a:xfrm>
            <a:off x="5614416" y="2103120"/>
            <a:ext cx="1261872" cy="777240"/>
          </a:xfrm>
          <a:prstGeom prst="rect">
            <a:avLst/>
          </a:prstGeom>
          <a:noFill/>
          <a:ln/>
        </p:spPr>
        <p:txBody>
          <a:bodyPr wrap="square" lIns="0" tIns="0" rIns="0" bIns="0" rtlCol="0" anchor="t"/>
          <a:lstStyle/>
          <a:p>
            <a:pPr indent="0" marL="0">
              <a:buNone/>
            </a:pPr>
            <a:r>
              <a:rPr lang="en-US" sz="1050" dirty="0">
                <a:solidFill>
                  <a:srgbClr val="5E6A73"/>
                </a:solidFill>
              </a:rPr>
              <a:t>Scores and breakdown as JSON</a:t>
            </a:r>
            <a:endParaRPr lang="en-US" sz="1050" dirty="0"/>
          </a:p>
        </p:txBody>
      </p:sp>
      <p:sp>
        <p:nvSpPr>
          <p:cNvPr id="22" name="Text 20"/>
          <p:cNvSpPr txBox="1"/>
          <p:nvPr/>
        </p:nvSpPr>
        <p:spPr>
          <a:xfrm>
            <a:off x="6967728" y="1783080"/>
            <a:ext cx="219456" cy="365760"/>
          </a:xfrm>
          <a:prstGeom prst="rect">
            <a:avLst/>
          </a:prstGeom>
          <a:noFill/>
          <a:ln/>
        </p:spPr>
        <p:txBody>
          <a:bodyPr wrap="square" lIns="0" tIns="0" rIns="0" bIns="0" rtlCol="0" anchor="t"/>
          <a:lstStyle/>
          <a:p>
            <a:pPr algn="ctr" indent="0" marL="0">
              <a:buNone/>
            </a:pPr>
            <a:r>
              <a:rPr lang="en-US" sz="2200" b="1" dirty="0">
                <a:solidFill>
                  <a:srgbClr val="3B5BA5"/>
                </a:solidFill>
              </a:rPr>
              <a:t>›</a:t>
            </a:r>
            <a:endParaRPr lang="en-US" sz="2200" dirty="0"/>
          </a:p>
        </p:txBody>
      </p:sp>
      <p:sp>
        <p:nvSpPr>
          <p:cNvPr id="23" name="Shape 21"/>
          <p:cNvSpPr/>
          <p:nvPr/>
        </p:nvSpPr>
        <p:spPr>
          <a:xfrm>
            <a:off x="7187184" y="1188720"/>
            <a:ext cx="1463040" cy="1737360"/>
          </a:xfrm>
          <a:prstGeom prst="roundRect">
            <a:avLst>
              <a:gd name="adj" fmla="val 8750"/>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24" name="Text 22"/>
          <p:cNvSpPr txBox="1"/>
          <p:nvPr/>
        </p:nvSpPr>
        <p:spPr>
          <a:xfrm>
            <a:off x="7296912" y="1261872"/>
            <a:ext cx="365760" cy="365760"/>
          </a:xfrm>
          <a:prstGeom prst="rect">
            <a:avLst/>
          </a:prstGeom>
          <a:noFill/>
          <a:ln/>
        </p:spPr>
        <p:txBody>
          <a:bodyPr wrap="square" lIns="0" tIns="0" rIns="0" bIns="0" rtlCol="0" anchor="t"/>
          <a:lstStyle/>
          <a:p>
            <a:pPr indent="0" marL="0">
              <a:buNone/>
            </a:pPr>
            <a:r>
              <a:rPr lang="en-US" sz="2000" b="1" dirty="0">
                <a:solidFill>
                  <a:srgbClr val="E4572E"/>
                </a:solidFill>
                <a:latin typeface="Georgia" pitchFamily="34" charset="0"/>
                <a:ea typeface="Georgia" pitchFamily="34" charset="-122"/>
                <a:cs typeface="Georgia" pitchFamily="34" charset="-120"/>
              </a:rPr>
              <a:t>5</a:t>
            </a:r>
            <a:endParaRPr lang="en-US" sz="2000" dirty="0"/>
          </a:p>
        </p:txBody>
      </p:sp>
      <p:sp>
        <p:nvSpPr>
          <p:cNvPr id="25" name="Text 23"/>
          <p:cNvSpPr txBox="1"/>
          <p:nvPr/>
        </p:nvSpPr>
        <p:spPr>
          <a:xfrm>
            <a:off x="7296912" y="1691640"/>
            <a:ext cx="1261872" cy="365760"/>
          </a:xfrm>
          <a:prstGeom prst="rect">
            <a:avLst/>
          </a:prstGeom>
          <a:noFill/>
          <a:ln/>
        </p:spPr>
        <p:txBody>
          <a:bodyPr wrap="square" lIns="0" tIns="0" rIns="0" bIns="0" rtlCol="0" anchor="t"/>
          <a:lstStyle/>
          <a:p>
            <a:pPr indent="0" marL="0">
              <a:buNone/>
            </a:pPr>
            <a:r>
              <a:rPr lang="en-US" sz="1250" b="1" dirty="0">
                <a:solidFill>
                  <a:srgbClr val="1F2A44"/>
                </a:solidFill>
              </a:rPr>
              <a:t>Web interface</a:t>
            </a:r>
            <a:endParaRPr lang="en-US" sz="1250" dirty="0"/>
          </a:p>
        </p:txBody>
      </p:sp>
      <p:sp>
        <p:nvSpPr>
          <p:cNvPr id="26" name="Text 24"/>
          <p:cNvSpPr txBox="1"/>
          <p:nvPr/>
        </p:nvSpPr>
        <p:spPr>
          <a:xfrm>
            <a:off x="7296912" y="2103120"/>
            <a:ext cx="1261872" cy="777240"/>
          </a:xfrm>
          <a:prstGeom prst="rect">
            <a:avLst/>
          </a:prstGeom>
          <a:noFill/>
          <a:ln/>
        </p:spPr>
        <p:txBody>
          <a:bodyPr wrap="square" lIns="0" tIns="0" rIns="0" bIns="0" rtlCol="0" anchor="t"/>
          <a:lstStyle/>
          <a:p>
            <a:pPr indent="0" marL="0">
              <a:buNone/>
            </a:pPr>
            <a:r>
              <a:rPr lang="en-US" sz="1050" dirty="0">
                <a:solidFill>
                  <a:srgbClr val="5E6A73"/>
                </a:solidFill>
              </a:rPr>
              <a:t>React map, Chart.js charts</a:t>
            </a:r>
            <a:endParaRPr lang="en-US" sz="1050" dirty="0"/>
          </a:p>
        </p:txBody>
      </p:sp>
      <p:sp>
        <p:nvSpPr>
          <p:cNvPr id="27" name="Shape 25"/>
          <p:cNvSpPr/>
          <p:nvPr/>
        </p:nvSpPr>
        <p:spPr>
          <a:xfrm>
            <a:off x="457200" y="3200400"/>
            <a:ext cx="2651760" cy="1417320"/>
          </a:xfrm>
          <a:prstGeom prst="roundRect">
            <a:avLst>
              <a:gd name="adj" fmla="val 9032"/>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28" name="Shape 26"/>
          <p:cNvSpPr/>
          <p:nvPr/>
        </p:nvSpPr>
        <p:spPr>
          <a:xfrm>
            <a:off x="3246120" y="3200400"/>
            <a:ext cx="2651760" cy="1417320"/>
          </a:xfrm>
          <a:prstGeom prst="roundRect">
            <a:avLst>
              <a:gd name="adj" fmla="val 9032"/>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29" name="Shape 27"/>
          <p:cNvSpPr/>
          <p:nvPr/>
        </p:nvSpPr>
        <p:spPr>
          <a:xfrm>
            <a:off x="6035040" y="3200400"/>
            <a:ext cx="2651760" cy="1417320"/>
          </a:xfrm>
          <a:prstGeom prst="roundRect">
            <a:avLst>
              <a:gd name="adj" fmla="val 9032"/>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30" name="Text 28"/>
          <p:cNvSpPr txBox="1"/>
          <p:nvPr/>
        </p:nvSpPr>
        <p:spPr>
          <a:xfrm>
            <a:off x="594360" y="3291840"/>
            <a:ext cx="2377440" cy="228600"/>
          </a:xfrm>
          <a:prstGeom prst="rect">
            <a:avLst/>
          </a:prstGeom>
          <a:noFill/>
          <a:ln/>
        </p:spPr>
        <p:txBody>
          <a:bodyPr wrap="square" lIns="0" tIns="0" rIns="0" bIns="0" rtlCol="0" anchor="t"/>
          <a:lstStyle/>
          <a:p>
            <a:pPr indent="0" marL="0">
              <a:buNone/>
            </a:pPr>
            <a:r>
              <a:rPr lang="en-US" sz="1100" b="1" dirty="0">
                <a:solidFill>
                  <a:srgbClr val="3B5BA5"/>
                </a:solidFill>
              </a:rPr>
              <a:t>TECH STACK</a:t>
            </a:r>
            <a:endParaRPr lang="en-US" sz="1100" dirty="0"/>
          </a:p>
        </p:txBody>
      </p:sp>
      <p:sp>
        <p:nvSpPr>
          <p:cNvPr id="31" name="Text 29"/>
          <p:cNvSpPr txBox="1"/>
          <p:nvPr/>
        </p:nvSpPr>
        <p:spPr>
          <a:xfrm>
            <a:off x="594360" y="3566160"/>
            <a:ext cx="2377440" cy="10058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2283A"/>
                </a:solidFill>
              </a:rPr>
              <a:t>React.js, Chart.js</a:t>
            </a:r>
            <a:endParaRPr lang="en-US" sz="1100" dirty="0"/>
          </a:p>
          <a:p>
            <a:pPr marL="342900" indent="-342900">
              <a:spcAft>
                <a:spcPts val="300"/>
              </a:spcAft>
              <a:buSzPct val="100000"/>
              <a:buChar char="•"/>
            </a:pPr>
            <a:r>
              <a:rPr lang="en-US" sz="1100" dirty="0">
                <a:solidFill>
                  <a:srgbClr val="22283A"/>
                </a:solidFill>
              </a:rPr>
              <a:t>Node.js + Express</a:t>
            </a:r>
            <a:endParaRPr lang="en-US" sz="1100" dirty="0"/>
          </a:p>
          <a:p>
            <a:pPr marL="342900" indent="-342900">
              <a:spcAft>
                <a:spcPts val="300"/>
              </a:spcAft>
              <a:buSzPct val="100000"/>
              <a:buChar char="•"/>
            </a:pPr>
            <a:r>
              <a:rPr lang="en-US" sz="1100" dirty="0">
                <a:solidFill>
                  <a:srgbClr val="22283A"/>
                </a:solidFill>
              </a:rPr>
              <a:t>PostgreSQL</a:t>
            </a:r>
            <a:endParaRPr lang="en-US" sz="1100" dirty="0"/>
          </a:p>
        </p:txBody>
      </p:sp>
      <p:sp>
        <p:nvSpPr>
          <p:cNvPr id="32" name="Text 30"/>
          <p:cNvSpPr txBox="1"/>
          <p:nvPr/>
        </p:nvSpPr>
        <p:spPr>
          <a:xfrm>
            <a:off x="3383280" y="3291840"/>
            <a:ext cx="2377440" cy="228600"/>
          </a:xfrm>
          <a:prstGeom prst="rect">
            <a:avLst/>
          </a:prstGeom>
          <a:noFill/>
          <a:ln/>
        </p:spPr>
        <p:txBody>
          <a:bodyPr wrap="square" lIns="0" tIns="0" rIns="0" bIns="0" rtlCol="0" anchor="t"/>
          <a:lstStyle/>
          <a:p>
            <a:pPr indent="0" marL="0">
              <a:buNone/>
            </a:pPr>
            <a:r>
              <a:rPr lang="en-US" sz="1100" b="1" dirty="0">
                <a:solidFill>
                  <a:srgbClr val="3B5BA5"/>
                </a:solidFill>
              </a:rPr>
              <a:t>IN SCOPE</a:t>
            </a:r>
            <a:endParaRPr lang="en-US" sz="1100" dirty="0"/>
          </a:p>
        </p:txBody>
      </p:sp>
      <p:sp>
        <p:nvSpPr>
          <p:cNvPr id="33" name="Text 31"/>
          <p:cNvSpPr txBox="1"/>
          <p:nvPr/>
        </p:nvSpPr>
        <p:spPr>
          <a:xfrm>
            <a:off x="3383280" y="3566160"/>
            <a:ext cx="2377440" cy="10058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2283A"/>
                </a:solidFill>
              </a:rPr>
              <a:t>Haversine distances</a:t>
            </a:r>
            <a:endParaRPr lang="en-US" sz="1100" dirty="0"/>
          </a:p>
          <a:p>
            <a:pPr marL="342900" indent="-342900">
              <a:spcAft>
                <a:spcPts val="300"/>
              </a:spcAft>
              <a:buSzPct val="100000"/>
              <a:buChar char="•"/>
            </a:pPr>
            <a:r>
              <a:rPr lang="en-US" sz="1100" dirty="0">
                <a:solidFill>
                  <a:srgbClr val="22283A"/>
                </a:solidFill>
              </a:rPr>
              <a:t>Deterministic, explainable</a:t>
            </a:r>
            <a:endParaRPr lang="en-US" sz="1100" dirty="0"/>
          </a:p>
          <a:p>
            <a:pPr marL="342900" indent="-342900">
              <a:spcAft>
                <a:spcPts val="300"/>
              </a:spcAft>
              <a:buSzPct val="100000"/>
              <a:buChar char="•"/>
            </a:pPr>
            <a:r>
              <a:rPr lang="en-US" sz="1100" dirty="0">
                <a:solidFill>
                  <a:srgbClr val="22283A"/>
                </a:solidFill>
              </a:rPr>
              <a:t>Sangli-Miraj-Kupwad area</a:t>
            </a:r>
            <a:endParaRPr lang="en-US" sz="1100" dirty="0"/>
          </a:p>
        </p:txBody>
      </p:sp>
      <p:sp>
        <p:nvSpPr>
          <p:cNvPr id="34" name="Text 32"/>
          <p:cNvSpPr txBox="1"/>
          <p:nvPr/>
        </p:nvSpPr>
        <p:spPr>
          <a:xfrm>
            <a:off x="6172200" y="3291840"/>
            <a:ext cx="2377440" cy="228600"/>
          </a:xfrm>
          <a:prstGeom prst="rect">
            <a:avLst/>
          </a:prstGeom>
          <a:noFill/>
          <a:ln/>
        </p:spPr>
        <p:txBody>
          <a:bodyPr wrap="square" lIns="0" tIns="0" rIns="0" bIns="0" rtlCol="0" anchor="t"/>
          <a:lstStyle/>
          <a:p>
            <a:pPr indent="0" marL="0">
              <a:buNone/>
            </a:pPr>
            <a:r>
              <a:rPr lang="en-US" sz="1100" b="1" dirty="0">
                <a:solidFill>
                  <a:srgbClr val="E4572E"/>
                </a:solidFill>
              </a:rPr>
              <a:t>OUT OF SCOPE (NOW)</a:t>
            </a:r>
            <a:endParaRPr lang="en-US" sz="1100" dirty="0"/>
          </a:p>
        </p:txBody>
      </p:sp>
      <p:sp>
        <p:nvSpPr>
          <p:cNvPr id="35" name="Text 33"/>
          <p:cNvSpPr txBox="1"/>
          <p:nvPr/>
        </p:nvSpPr>
        <p:spPr>
          <a:xfrm>
            <a:off x="6172200" y="3566160"/>
            <a:ext cx="2377440" cy="10058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2283A"/>
                </a:solidFill>
              </a:rPr>
              <a:t>Machine learning</a:t>
            </a:r>
            <a:endParaRPr lang="en-US" sz="1100" dirty="0"/>
          </a:p>
          <a:p>
            <a:pPr marL="342900" indent="-342900">
              <a:spcAft>
                <a:spcPts val="300"/>
              </a:spcAft>
              <a:buSzPct val="100000"/>
              <a:buChar char="•"/>
            </a:pPr>
            <a:r>
              <a:rPr lang="en-US" sz="1100" dirty="0">
                <a:solidFill>
                  <a:srgbClr val="22283A"/>
                </a:solidFill>
              </a:rPr>
              <a:t>Live GIS or routing</a:t>
            </a:r>
            <a:endParaRPr lang="en-US" sz="1100" dirty="0"/>
          </a:p>
          <a:p>
            <a:pPr marL="342900" indent="-342900">
              <a:spcAft>
                <a:spcPts val="300"/>
              </a:spcAft>
              <a:buSzPct val="100000"/>
              <a:buChar char="•"/>
            </a:pPr>
            <a:r>
              <a:rPr lang="en-US" sz="1100" dirty="0">
                <a:solidFill>
                  <a:srgbClr val="22283A"/>
                </a:solidFill>
              </a:rPr>
              <a:t>Scout network, price forecast</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Scoring Parameters</a:t>
            </a:r>
            <a:endParaRPr lang="en-US" sz="2600" dirty="0"/>
          </a:p>
        </p:txBody>
      </p:sp>
      <p:graphicFrame>
        <p:nvGraphicFramePr>
          <p:cNvPr id="3" name="Chart 0" descr=""/>
          <p:cNvGraphicFramePr/>
          <p:nvPr/>
        </p:nvGraphicFramePr>
        <p:xfrm>
          <a:off x="457200" y="1051560"/>
          <a:ext cx="402336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754880" y="1097280"/>
          <a:ext cx="3931920" cy="914400"/>
        </p:xfrm>
        <a:graphic>
          <a:graphicData uri="http://schemas.openxmlformats.org/drawingml/2006/table">
            <a:tbl>
              <a:tblPr/>
              <a:tblGrid>
                <a:gridCol w="1828800"/>
                <a:gridCol w="1005840"/>
                <a:gridCol w="1097280"/>
              </a:tblGrid>
              <a:tr h="329184">
                <a:tc>
                  <a:txBody>
                    <a:bodyPr/>
                    <a:lstStyle/>
                    <a:p>
                      <a:pPr indent="0" marL="0">
                        <a:buNone/>
                      </a:pPr>
                      <a:r>
                        <a:rPr lang="en-US" sz="1100" b="1" dirty="0">
                          <a:solidFill>
                            <a:srgbClr val="FFFFFF"/>
                          </a:solidFill>
                        </a:rPr>
                        <a:t>Project type</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Weight W</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Reach d0 (km)</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r>
              <a:tr h="329184">
                <a:tc>
                  <a:txBody>
                    <a:bodyPr/>
                    <a:lstStyle/>
                    <a:p>
                      <a:pPr indent="0" marL="0">
                        <a:buNone/>
                      </a:pPr>
                      <a:r>
                        <a:rPr lang="en-US" sz="1100" dirty="0">
                          <a:solidFill>
                            <a:srgbClr val="22283A"/>
                          </a:solidFill>
                        </a:rPr>
                        <a:t>Highway</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0.9</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2.5</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83A"/>
                          </a:solidFill>
                        </a:rPr>
                        <a:t>Rail upgrade</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0.8</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2.0</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83A"/>
                          </a:solidFill>
                        </a:rPr>
                        <a:t>Industrial zone</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0.8</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2.5</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83A"/>
                          </a:solidFill>
                        </a:rPr>
                        <a:t>IT park</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0.7</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2.0</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83A"/>
                          </a:solidFill>
                        </a:rPr>
                        <a:t>Ring road</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0.7</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2.5</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83A"/>
                          </a:solidFill>
                        </a:rPr>
                        <a:t>River bridge</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0.6</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1100" dirty="0">
                          <a:solidFill>
                            <a:srgbClr val="22283A"/>
                          </a:solidFill>
                        </a:rPr>
                        <a:t>1.5</a:t>
                      </a:r>
                      <a:endParaRPr lang="en-US" sz="1100" dirty="0"/>
                    </a:p>
                  </a:txBody>
                  <a:tcPr marL="91440" marR="91440" marT="45720" marB="45720">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754880" y="3611880"/>
            <a:ext cx="3931920" cy="640080"/>
          </a:xfrm>
          <a:prstGeom prst="rect">
            <a:avLst/>
          </a:prstGeom>
          <a:noFill/>
          <a:ln/>
        </p:spPr>
        <p:txBody>
          <a:bodyPr wrap="square" lIns="0" tIns="0" rIns="0" bIns="0" rtlCol="0" anchor="t"/>
          <a:lstStyle/>
          <a:p>
            <a:pPr indent="0" marL="0">
              <a:buNone/>
            </a:pPr>
            <a:r>
              <a:rPr lang="en-US" sz="1050" i="1" dirty="0">
                <a:solidFill>
                  <a:srgbClr val="5E6A73"/>
                </a:solidFill>
              </a:rPr>
              <a:t>Initial values for the Sangli prototype. Final weights will come from AHP sessions with local experts and be tuned by back-testing.</a:t>
            </a:r>
            <a:endParaRPr lang="en-US" sz="1050" dirty="0"/>
          </a:p>
        </p:txBody>
      </p:sp>
      <p:sp>
        <p:nvSpPr>
          <p:cNvPr id="6" name="Text 2"/>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50" b="1" dirty="0">
                <a:solidFill>
                  <a:srgbClr val="E4572E"/>
                </a:solidFill>
              </a:rPr>
              <a:t>Note: the demo now uses the real projects on the Registry slide.</a:t>
            </a:r>
            <a:endParaRPr lang="en-US" sz="10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Database Design &amp; Use Cases</a:t>
            </a:r>
            <a:endParaRPr lang="en-US" sz="2600" dirty="0"/>
          </a:p>
        </p:txBody>
      </p:sp>
      <p:sp>
        <p:nvSpPr>
          <p:cNvPr id="3" name="Shape 1"/>
          <p:cNvSpPr/>
          <p:nvPr/>
        </p:nvSpPr>
        <p:spPr>
          <a:xfrm>
            <a:off x="457200" y="1051560"/>
            <a:ext cx="2103120" cy="1508760"/>
          </a:xfrm>
          <a:prstGeom prst="roundRect">
            <a:avLst>
              <a:gd name="adj" fmla="val 848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Text 2"/>
          <p:cNvSpPr txBox="1"/>
          <p:nvPr/>
        </p:nvSpPr>
        <p:spPr>
          <a:xfrm>
            <a:off x="594360" y="1124712"/>
            <a:ext cx="1828800" cy="274320"/>
          </a:xfrm>
          <a:prstGeom prst="rect">
            <a:avLst/>
          </a:prstGeom>
          <a:noFill/>
          <a:ln/>
        </p:spPr>
        <p:txBody>
          <a:bodyPr wrap="square" lIns="0" tIns="0" rIns="0" bIns="0" rtlCol="0" anchor="ctr"/>
          <a:lstStyle/>
          <a:p>
            <a:pPr indent="0" marL="0">
              <a:buNone/>
            </a:pPr>
            <a:r>
              <a:rPr lang="en-US" sz="1200" b="1" dirty="0">
                <a:solidFill>
                  <a:srgbClr val="3B5BA5"/>
                </a:solidFill>
              </a:rPr>
              <a:t>Locality</a:t>
            </a:r>
            <a:endParaRPr lang="en-US" sz="1200" dirty="0"/>
          </a:p>
        </p:txBody>
      </p:sp>
      <p:sp>
        <p:nvSpPr>
          <p:cNvPr id="5" name="Text 3"/>
          <p:cNvSpPr txBox="1"/>
          <p:nvPr/>
        </p:nvSpPr>
        <p:spPr>
          <a:xfrm>
            <a:off x="594360" y="1463040"/>
            <a:ext cx="1828800" cy="1051560"/>
          </a:xfrm>
          <a:prstGeom prst="rect">
            <a:avLst/>
          </a:prstGeom>
          <a:noFill/>
          <a:ln/>
        </p:spPr>
        <p:txBody>
          <a:bodyPr wrap="square" lIns="0" tIns="0" rIns="0" bIns="0" rtlCol="0" anchor="t"/>
          <a:lstStyle/>
          <a:p>
            <a:pPr indent="0" marL="0">
              <a:buNone/>
            </a:pPr>
            <a:r>
              <a:rPr lang="en-US" sz="1000" dirty="0">
                <a:solidFill>
                  <a:srgbClr val="22283A"/>
                </a:solidFill>
              </a:rPr>
              <a:t>locality_id (PK)</a:t>
            </a:r>
            <a:endParaRPr lang="en-US" sz="1000" dirty="0"/>
          </a:p>
          <a:p>
            <a:pPr indent="0" marL="0">
              <a:buNone/>
            </a:pPr>
            <a:r>
              <a:rPr lang="en-US" sz="1000" dirty="0">
                <a:solidFill>
                  <a:srgbClr val="22283A"/>
                </a:solidFill>
              </a:rPr>
              <a:t>name</a:t>
            </a:r>
            <a:endParaRPr lang="en-US" sz="1000" dirty="0"/>
          </a:p>
          <a:p>
            <a:pPr indent="0" marL="0">
              <a:buNone/>
            </a:pPr>
            <a:r>
              <a:rPr lang="en-US" sz="1000" dirty="0">
                <a:solidFill>
                  <a:srgbClr val="22283A"/>
                </a:solidFill>
              </a:rPr>
              <a:t>latitude, longitude</a:t>
            </a:r>
            <a:endParaRPr lang="en-US" sz="1000" dirty="0"/>
          </a:p>
          <a:p>
            <a:pPr indent="0" marL="0">
              <a:buNone/>
            </a:pPr>
            <a:r>
              <a:rPr lang="en-US" sz="1000" dirty="0">
                <a:solidFill>
                  <a:srgbClr val="22283A"/>
                </a:solidFill>
              </a:rPr>
              <a:t>grid_cell, land_type flags</a:t>
            </a:r>
            <a:endParaRPr lang="en-US" sz="1000" dirty="0"/>
          </a:p>
        </p:txBody>
      </p:sp>
      <p:sp>
        <p:nvSpPr>
          <p:cNvPr id="6" name="Shape 4"/>
          <p:cNvSpPr/>
          <p:nvPr/>
        </p:nvSpPr>
        <p:spPr>
          <a:xfrm>
            <a:off x="2697480" y="1051560"/>
            <a:ext cx="2103120" cy="1508760"/>
          </a:xfrm>
          <a:prstGeom prst="roundRect">
            <a:avLst>
              <a:gd name="adj" fmla="val 848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7" name="Text 5"/>
          <p:cNvSpPr txBox="1"/>
          <p:nvPr/>
        </p:nvSpPr>
        <p:spPr>
          <a:xfrm>
            <a:off x="2834640" y="1124712"/>
            <a:ext cx="1828800" cy="274320"/>
          </a:xfrm>
          <a:prstGeom prst="rect">
            <a:avLst/>
          </a:prstGeom>
          <a:noFill/>
          <a:ln/>
        </p:spPr>
        <p:txBody>
          <a:bodyPr wrap="square" lIns="0" tIns="0" rIns="0" bIns="0" rtlCol="0" anchor="ctr"/>
          <a:lstStyle/>
          <a:p>
            <a:pPr indent="0" marL="0">
              <a:buNone/>
            </a:pPr>
            <a:r>
              <a:rPr lang="en-US" sz="1200" b="1" dirty="0">
                <a:solidFill>
                  <a:srgbClr val="3B5BA5"/>
                </a:solidFill>
              </a:rPr>
              <a:t>InfraProject</a:t>
            </a:r>
            <a:endParaRPr lang="en-US" sz="1200" dirty="0"/>
          </a:p>
        </p:txBody>
      </p:sp>
      <p:sp>
        <p:nvSpPr>
          <p:cNvPr id="8" name="Text 6"/>
          <p:cNvSpPr txBox="1"/>
          <p:nvPr/>
        </p:nvSpPr>
        <p:spPr>
          <a:xfrm>
            <a:off x="2834640" y="1463040"/>
            <a:ext cx="1828800" cy="1051560"/>
          </a:xfrm>
          <a:prstGeom prst="rect">
            <a:avLst/>
          </a:prstGeom>
          <a:noFill/>
          <a:ln/>
        </p:spPr>
        <p:txBody>
          <a:bodyPr wrap="square" lIns="0" tIns="0" rIns="0" bIns="0" rtlCol="0" anchor="t"/>
          <a:lstStyle/>
          <a:p>
            <a:pPr indent="0" marL="0">
              <a:buNone/>
            </a:pPr>
            <a:r>
              <a:rPr lang="en-US" sz="1000" dirty="0">
                <a:solidFill>
                  <a:srgbClr val="22283A"/>
                </a:solidFill>
              </a:rPr>
              <a:t>project_id (PK)</a:t>
            </a:r>
            <a:endParaRPr lang="en-US" sz="1000" dirty="0"/>
          </a:p>
          <a:p>
            <a:pPr indent="0" marL="0">
              <a:buNone/>
            </a:pPr>
            <a:r>
              <a:rPr lang="en-US" sz="1000" dirty="0">
                <a:solidFill>
                  <a:srgbClr val="22283A"/>
                </a:solidFill>
              </a:rPr>
              <a:t>name, type</a:t>
            </a:r>
            <a:endParaRPr lang="en-US" sz="1000" dirty="0"/>
          </a:p>
          <a:p>
            <a:pPr indent="0" marL="0">
              <a:buNone/>
            </a:pPr>
            <a:r>
              <a:rPr lang="en-US" sz="1000" dirty="0">
                <a:solidFill>
                  <a:srgbClr val="22283A"/>
                </a:solidFill>
              </a:rPr>
              <a:t>latitude, longitude</a:t>
            </a:r>
            <a:endParaRPr lang="en-US" sz="1000" dirty="0"/>
          </a:p>
          <a:p>
            <a:pPr indent="0" marL="0">
              <a:buNone/>
            </a:pPr>
            <a:r>
              <a:rPr lang="en-US" sz="1000" dirty="0">
                <a:solidFill>
                  <a:srgbClr val="22283A"/>
                </a:solidFill>
              </a:rPr>
              <a:t>stage, expected_year</a:t>
            </a:r>
            <a:endParaRPr lang="en-US" sz="1000" dirty="0"/>
          </a:p>
          <a:p>
            <a:pPr indent="0" marL="0">
              <a:buNone/>
            </a:pPr>
            <a:r>
              <a:rPr lang="en-US" sz="1000" dirty="0">
                <a:solidFill>
                  <a:srgbClr val="22283A"/>
                </a:solidFill>
              </a:rPr>
              <a:t>source, access_points</a:t>
            </a:r>
            <a:endParaRPr lang="en-US" sz="1000" dirty="0"/>
          </a:p>
        </p:txBody>
      </p:sp>
      <p:sp>
        <p:nvSpPr>
          <p:cNvPr id="9" name="Shape 7"/>
          <p:cNvSpPr/>
          <p:nvPr/>
        </p:nvSpPr>
        <p:spPr>
          <a:xfrm>
            <a:off x="457200" y="2834640"/>
            <a:ext cx="2103120" cy="1508760"/>
          </a:xfrm>
          <a:prstGeom prst="roundRect">
            <a:avLst>
              <a:gd name="adj" fmla="val 848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0" name="Text 8"/>
          <p:cNvSpPr txBox="1"/>
          <p:nvPr/>
        </p:nvSpPr>
        <p:spPr>
          <a:xfrm>
            <a:off x="594360" y="2907792"/>
            <a:ext cx="1828800" cy="274320"/>
          </a:xfrm>
          <a:prstGeom prst="rect">
            <a:avLst/>
          </a:prstGeom>
          <a:noFill/>
          <a:ln/>
        </p:spPr>
        <p:txBody>
          <a:bodyPr wrap="square" lIns="0" tIns="0" rIns="0" bIns="0" rtlCol="0" anchor="ctr"/>
          <a:lstStyle/>
          <a:p>
            <a:pPr indent="0" marL="0">
              <a:buNone/>
            </a:pPr>
            <a:r>
              <a:rPr lang="en-US" sz="1200" b="1" dirty="0">
                <a:solidFill>
                  <a:srgbClr val="3B5BA5"/>
                </a:solidFill>
              </a:rPr>
              <a:t>Score</a:t>
            </a:r>
            <a:endParaRPr lang="en-US" sz="1200" dirty="0"/>
          </a:p>
        </p:txBody>
      </p:sp>
      <p:sp>
        <p:nvSpPr>
          <p:cNvPr id="11" name="Text 9"/>
          <p:cNvSpPr txBox="1"/>
          <p:nvPr/>
        </p:nvSpPr>
        <p:spPr>
          <a:xfrm>
            <a:off x="594360" y="3246120"/>
            <a:ext cx="1828800" cy="1051560"/>
          </a:xfrm>
          <a:prstGeom prst="rect">
            <a:avLst/>
          </a:prstGeom>
          <a:noFill/>
          <a:ln/>
        </p:spPr>
        <p:txBody>
          <a:bodyPr wrap="square" lIns="0" tIns="0" rIns="0" bIns="0" rtlCol="0" anchor="t"/>
          <a:lstStyle/>
          <a:p>
            <a:pPr indent="0" marL="0">
              <a:buNone/>
            </a:pPr>
            <a:r>
              <a:rPr lang="en-US" sz="1000" dirty="0">
                <a:solidFill>
                  <a:srgbClr val="22283A"/>
                </a:solidFill>
              </a:rPr>
              <a:t>score_id (PK)</a:t>
            </a:r>
            <a:endParaRPr lang="en-US" sz="1000" dirty="0"/>
          </a:p>
          <a:p>
            <a:pPr indent="0" marL="0">
              <a:buNone/>
            </a:pPr>
            <a:r>
              <a:rPr lang="en-US" sz="1000" dirty="0">
                <a:solidFill>
                  <a:srgbClr val="22283A"/>
                </a:solidFill>
              </a:rPr>
              <a:t>locality_id (FK)</a:t>
            </a:r>
            <a:endParaRPr lang="en-US" sz="1000" dirty="0"/>
          </a:p>
          <a:p>
            <a:pPr indent="0" marL="0">
              <a:buNone/>
            </a:pPr>
            <a:r>
              <a:rPr lang="en-US" sz="1000" dirty="0">
                <a:solidFill>
                  <a:srgbClr val="22283A"/>
                </a:solidFill>
              </a:rPr>
              <a:t>score, computed_at</a:t>
            </a:r>
            <a:endParaRPr lang="en-US" sz="1000" dirty="0"/>
          </a:p>
          <a:p>
            <a:pPr indent="0" marL="0">
              <a:buNone/>
            </a:pPr>
            <a:r>
              <a:rPr lang="en-US" sz="1000" dirty="0">
                <a:solidFill>
                  <a:srgbClr val="22283A"/>
                </a:solidFill>
              </a:rPr>
              <a:t>config_version</a:t>
            </a:r>
            <a:endParaRPr lang="en-US" sz="1000" dirty="0"/>
          </a:p>
        </p:txBody>
      </p:sp>
      <p:sp>
        <p:nvSpPr>
          <p:cNvPr id="12" name="Shape 10"/>
          <p:cNvSpPr/>
          <p:nvPr/>
        </p:nvSpPr>
        <p:spPr>
          <a:xfrm>
            <a:off x="2697480" y="2834640"/>
            <a:ext cx="2103120" cy="1508760"/>
          </a:xfrm>
          <a:prstGeom prst="roundRect">
            <a:avLst>
              <a:gd name="adj" fmla="val 848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3" name="Text 11"/>
          <p:cNvSpPr txBox="1"/>
          <p:nvPr/>
        </p:nvSpPr>
        <p:spPr>
          <a:xfrm>
            <a:off x="2834640" y="2907792"/>
            <a:ext cx="1828800" cy="274320"/>
          </a:xfrm>
          <a:prstGeom prst="rect">
            <a:avLst/>
          </a:prstGeom>
          <a:noFill/>
          <a:ln/>
        </p:spPr>
        <p:txBody>
          <a:bodyPr wrap="square" lIns="0" tIns="0" rIns="0" bIns="0" rtlCol="0" anchor="ctr"/>
          <a:lstStyle/>
          <a:p>
            <a:pPr indent="0" marL="0">
              <a:buNone/>
            </a:pPr>
            <a:r>
              <a:rPr lang="en-US" sz="1200" b="1" dirty="0">
                <a:solidFill>
                  <a:srgbClr val="3B5BA5"/>
                </a:solidFill>
              </a:rPr>
              <a:t>Config / Weights</a:t>
            </a:r>
            <a:endParaRPr lang="en-US" sz="1200" dirty="0"/>
          </a:p>
        </p:txBody>
      </p:sp>
      <p:sp>
        <p:nvSpPr>
          <p:cNvPr id="14" name="Text 12"/>
          <p:cNvSpPr txBox="1"/>
          <p:nvPr/>
        </p:nvSpPr>
        <p:spPr>
          <a:xfrm>
            <a:off x="2834640" y="3246120"/>
            <a:ext cx="1828800" cy="1051560"/>
          </a:xfrm>
          <a:prstGeom prst="rect">
            <a:avLst/>
          </a:prstGeom>
          <a:noFill/>
          <a:ln/>
        </p:spPr>
        <p:txBody>
          <a:bodyPr wrap="square" lIns="0" tIns="0" rIns="0" bIns="0" rtlCol="0" anchor="t"/>
          <a:lstStyle/>
          <a:p>
            <a:pPr indent="0" marL="0">
              <a:buNone/>
            </a:pPr>
            <a:r>
              <a:rPr lang="en-US" sz="1000" dirty="0">
                <a:solidFill>
                  <a:srgbClr val="22283A"/>
                </a:solidFill>
              </a:rPr>
              <a:t>config_id (PK)</a:t>
            </a:r>
            <a:endParaRPr lang="en-US" sz="1000" dirty="0"/>
          </a:p>
          <a:p>
            <a:pPr indent="0" marL="0">
              <a:buNone/>
            </a:pPr>
            <a:r>
              <a:rPr lang="en-US" sz="1000" dirty="0">
                <a:solidFill>
                  <a:srgbClr val="22283A"/>
                </a:solidFill>
              </a:rPr>
              <a:t>type, weight, reach_km</a:t>
            </a:r>
            <a:endParaRPr lang="en-US" sz="1000" dirty="0"/>
          </a:p>
          <a:p>
            <a:pPr indent="0" marL="0">
              <a:buNone/>
            </a:pPr>
            <a:r>
              <a:rPr lang="en-US" sz="1000" dirty="0">
                <a:solidFill>
                  <a:srgbClr val="22283A"/>
                </a:solidFill>
              </a:rPr>
              <a:t>stage, certainty</a:t>
            </a:r>
            <a:endParaRPr lang="en-US" sz="1000" dirty="0"/>
          </a:p>
          <a:p>
            <a:pPr indent="0" marL="0">
              <a:buNone/>
            </a:pPr>
            <a:r>
              <a:rPr lang="en-US" sz="1000" dirty="0">
                <a:solidFill>
                  <a:srgbClr val="22283A"/>
                </a:solidFill>
              </a:rPr>
              <a:t>updated_by</a:t>
            </a:r>
            <a:endParaRPr lang="en-US" sz="1000" dirty="0"/>
          </a:p>
        </p:txBody>
      </p:sp>
      <p:sp>
        <p:nvSpPr>
          <p:cNvPr id="15" name="Shape 13"/>
          <p:cNvSpPr/>
          <p:nvPr/>
        </p:nvSpPr>
        <p:spPr>
          <a:xfrm>
            <a:off x="5029200" y="1051560"/>
            <a:ext cx="3657600" cy="3291840"/>
          </a:xfrm>
          <a:prstGeom prst="roundRect">
            <a:avLst>
              <a:gd name="adj" fmla="val 3889"/>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6" name="Text 14"/>
          <p:cNvSpPr txBox="1"/>
          <p:nvPr/>
        </p:nvSpPr>
        <p:spPr>
          <a:xfrm>
            <a:off x="5212080" y="1161288"/>
            <a:ext cx="3291840" cy="228600"/>
          </a:xfrm>
          <a:prstGeom prst="rect">
            <a:avLst/>
          </a:prstGeom>
          <a:noFill/>
          <a:ln/>
        </p:spPr>
        <p:txBody>
          <a:bodyPr wrap="square" lIns="0" tIns="0" rIns="0" bIns="0" rtlCol="0" anchor="t"/>
          <a:lstStyle/>
          <a:p>
            <a:pPr indent="0" marL="0">
              <a:buNone/>
            </a:pPr>
            <a:r>
              <a:rPr lang="en-US" sz="1100" b="1" dirty="0">
                <a:solidFill>
                  <a:srgbClr val="3B5BA5"/>
                </a:solidFill>
              </a:rPr>
              <a:t>USE CASES</a:t>
            </a:r>
            <a:endParaRPr lang="en-US" sz="1100" dirty="0"/>
          </a:p>
        </p:txBody>
      </p:sp>
      <p:sp>
        <p:nvSpPr>
          <p:cNvPr id="17" name="Text 15"/>
          <p:cNvSpPr txBox="1"/>
          <p:nvPr/>
        </p:nvSpPr>
        <p:spPr>
          <a:xfrm>
            <a:off x="5212080" y="1463040"/>
            <a:ext cx="3291840" cy="2743200"/>
          </a:xfrm>
          <a:prstGeom prst="rect">
            <a:avLst/>
          </a:prstGeom>
          <a:noFill/>
          <a:ln/>
        </p:spPr>
        <p:txBody>
          <a:bodyPr wrap="square" lIns="0" tIns="0" rIns="0" bIns="0" rtlCol="0" anchor="t"/>
          <a:lstStyle/>
          <a:p>
            <a:pPr indent="0" marL="0">
              <a:spcAft>
                <a:spcPts val="400"/>
              </a:spcAft>
              <a:buNone/>
            </a:pPr>
            <a:r>
              <a:rPr lang="en-US" sz="1150" b="1" dirty="0">
                <a:solidFill>
                  <a:srgbClr val="1F2A44"/>
                </a:solidFill>
              </a:rPr>
              <a:t>Buyer</a:t>
            </a:r>
            <a:endParaRPr lang="en-US" sz="1150" dirty="0"/>
          </a:p>
          <a:p>
            <a:pPr marL="342900" indent="-342900">
              <a:spcAft>
                <a:spcPts val="400"/>
              </a:spcAft>
              <a:buSzPct val="100000"/>
              <a:buChar char="•"/>
            </a:pPr>
            <a:r>
              <a:rPr lang="en-US" sz="1150" dirty="0">
                <a:solidFill>
                  <a:srgbClr val="22283A"/>
                </a:solidFill>
              </a:rPr>
              <a:t>View score map</a:t>
            </a:r>
            <a:endParaRPr lang="en-US" sz="1150" dirty="0"/>
          </a:p>
          <a:p>
            <a:pPr marL="342900" indent="-342900">
              <a:spcAft>
                <a:spcPts val="400"/>
              </a:spcAft>
              <a:buSzPct val="100000"/>
              <a:buChar char="•"/>
            </a:pPr>
            <a:r>
              <a:rPr lang="en-US" sz="1150" dirty="0">
                <a:solidFill>
                  <a:srgbClr val="22283A"/>
                </a:solidFill>
              </a:rPr>
              <a:t>Open per-project breakdown</a:t>
            </a:r>
            <a:endParaRPr lang="en-US" sz="1150" dirty="0"/>
          </a:p>
          <a:p>
            <a:pPr marL="342900" indent="-342900">
              <a:spcAft>
                <a:spcPts val="400"/>
              </a:spcAft>
              <a:buSzPct val="100000"/>
              <a:buChar char="•"/>
            </a:pPr>
            <a:r>
              <a:rPr lang="en-US" sz="1150" dirty="0">
                <a:solidFill>
                  <a:srgbClr val="22283A"/>
                </a:solidFill>
              </a:rPr>
              <a:t>Filter by stage and year</a:t>
            </a:r>
            <a:endParaRPr lang="en-US" sz="1150" dirty="0"/>
          </a:p>
          <a:p>
            <a:pPr indent="0" marL="0">
              <a:spcAft>
                <a:spcPts val="400"/>
              </a:spcAft>
              <a:buNone/>
            </a:pPr>
            <a:r>
              <a:rPr lang="en-US" sz="1150" b="1" dirty="0">
                <a:solidFill>
                  <a:srgbClr val="1F2A44"/>
                </a:solidFill>
              </a:rPr>
              <a:t>Admin</a:t>
            </a:r>
            <a:endParaRPr lang="en-US" sz="1150" dirty="0"/>
          </a:p>
          <a:p>
            <a:pPr marL="342900" indent="-342900">
              <a:spcAft>
                <a:spcPts val="400"/>
              </a:spcAft>
              <a:buSzPct val="100000"/>
              <a:buChar char="•"/>
            </a:pPr>
            <a:r>
              <a:rPr lang="en-US" sz="1150" dirty="0">
                <a:solidFill>
                  <a:srgbClr val="22283A"/>
                </a:solidFill>
              </a:rPr>
              <a:t>Add or update projects</a:t>
            </a:r>
            <a:endParaRPr lang="en-US" sz="1150" dirty="0"/>
          </a:p>
          <a:p>
            <a:pPr marL="342900" indent="-342900">
              <a:spcAft>
                <a:spcPts val="400"/>
              </a:spcAft>
              <a:buSzPct val="100000"/>
              <a:buChar char="•"/>
            </a:pPr>
            <a:r>
              <a:rPr lang="en-US" sz="1150" dirty="0">
                <a:solidFill>
                  <a:srgbClr val="22283A"/>
                </a:solidFill>
              </a:rPr>
              <a:t>Edit weights and stages</a:t>
            </a:r>
            <a:endParaRPr lang="en-US" sz="1150" dirty="0"/>
          </a:p>
          <a:p>
            <a:pPr marL="342900" indent="-342900">
              <a:spcAft>
                <a:spcPts val="400"/>
              </a:spcAft>
              <a:buSzPct val="100000"/>
              <a:buChar char="•"/>
            </a:pPr>
            <a:r>
              <a:rPr lang="en-US" sz="1150" dirty="0">
                <a:solidFill>
                  <a:srgbClr val="22283A"/>
                </a:solidFill>
              </a:rPr>
              <a:t>Recalculate scores</a:t>
            </a:r>
            <a:endParaRPr lang="en-US" sz="11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Real Data: Sangli Infrastructure Registry</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834640"/>
                <a:gridCol w="777240"/>
                <a:gridCol w="1783080"/>
                <a:gridCol w="868680"/>
                <a:gridCol w="1965960"/>
              </a:tblGrid>
              <a:tr h="457200">
                <a:tc>
                  <a:txBody>
                    <a:bodyPr/>
                    <a:lstStyle/>
                    <a:p>
                      <a:pPr indent="0" marL="0">
                        <a:buNone/>
                      </a:pPr>
                      <a:r>
                        <a:rPr lang="en-US" sz="1000" b="1" dirty="0">
                          <a:solidFill>
                            <a:srgbClr val="FFFFFF"/>
                          </a:solidFill>
                        </a:rPr>
                        <a:t>Project</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rPr>
                        <a:t>Type</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rPr>
                        <a:t>Stage</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rPr>
                        <a:t>Expected</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rPr>
                        <a:t>Source</a:t>
                      </a:r>
                      <a:endParaRPr lang="en-US" sz="100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1F2A44"/>
                    </a:solidFill>
                  </a:tcPr>
                </a:tc>
              </a:tr>
              <a:tr h="457200">
                <a:tc>
                  <a:txBody>
                    <a:bodyPr/>
                    <a:lstStyle/>
                    <a:p>
                      <a:pPr indent="0" marL="0">
                        <a:buNone/>
                      </a:pPr>
                      <a:r>
                        <a:rPr lang="en-US" sz="950" dirty="0">
                          <a:solidFill>
                            <a:srgbClr val="22283A"/>
                          </a:solidFill>
                        </a:rPr>
                        <a:t>Pune-Miraj-Londa rail doubling (Sangli-Miraj section)</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Rail</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Completed</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2024</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Central Railway, Feb 2024</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22283A"/>
                          </a:solidFill>
                        </a:rPr>
                        <a:t>NH-166 Sangli-Borgaon 4-laning, 41.4 km, Rs 1,102 cr</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Highway</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Completed</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2022</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NHAI / Dilip Buildcon notices</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22283A"/>
                          </a:solidFill>
                        </a:rPr>
                        <a:t>NH-166 Kolhapur-Sangli 4-laning (Ankali end), 33.6 km, Rs 759 cr</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Highway</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Tendered; bids closed Apr 2026</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~2029 (est.)</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NHAI tender 2026_NHAI_267662_1</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22283A"/>
                          </a:solidFill>
                        </a:rPr>
                        <a:t>NH-166H Peth Naka-Sangli 4-laning, 41 km, Rs 881 cr</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Highway</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Sanctioned Jan 2023; status to verify</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To verify</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NBMCW, Jan 2023</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22283A"/>
                          </a:solidFill>
                        </a:rPr>
                        <a:t>Shaktipeeth Expressway (Khanapur taluka, Sangli district)</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Expressway</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Alignment approved Apr 2026; local opposition</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2028-29 target</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101Reporters; MSRDC</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22283A"/>
                          </a:solidFill>
                        </a:rPr>
                        <a:t>Sangli-Miraj MIDC, 166 ha, est. 1971</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Industrial</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Existing anchor</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Existing</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c>
                  <a:txBody>
                    <a:bodyPr/>
                    <a:lstStyle/>
                    <a:p>
                      <a:pPr indent="0" marL="0">
                        <a:buNone/>
                      </a:pPr>
                      <a:r>
                        <a:rPr lang="en-US" sz="950" dirty="0">
                          <a:solidFill>
                            <a:srgbClr val="22283A"/>
                          </a:solidFill>
                        </a:rPr>
                        <a:t>SMMMA / MIDC</a:t>
                      </a:r>
                      <a:endParaRPr lang="en-US" sz="950" dirty="0"/>
                    </a:p>
                  </a:txBody>
                  <a:tcPr marL="91440" marR="91440" marT="45720" marB="45720" anchor="ctr">
                    <a:lnL w="9525" cap="flat" cmpd="sng" algn="ctr">
                      <a:solidFill>
                        <a:srgbClr val="E7E1D6"/>
                      </a:solidFill>
                      <a:prstDash val="solid"/>
                      <a:round/>
                      <a:headEnd type="none" w="med" len="med"/>
                      <a:tailEnd type="none" w="med" len="med"/>
                    </a:lnL>
                    <a:lnR w="9525" cap="flat" cmpd="sng" algn="ctr">
                      <a:solidFill>
                        <a:srgbClr val="E7E1D6"/>
                      </a:solidFill>
                      <a:prstDash val="solid"/>
                      <a:round/>
                      <a:headEnd type="none" w="med" len="med"/>
                      <a:tailEnd type="none" w="med" len="med"/>
                    </a:lnR>
                    <a:lnT w="9525" cap="flat" cmpd="sng" algn="ctr">
                      <a:solidFill>
                        <a:srgbClr val="E7E1D6"/>
                      </a:solidFill>
                      <a:prstDash val="solid"/>
                      <a:round/>
                      <a:headEnd type="none" w="med" len="med"/>
                      <a:tailEnd type="none" w="med" len="med"/>
                    </a:lnT>
                    <a:lnB w="9525" cap="flat" cmpd="sng" algn="ctr">
                      <a:solidFill>
                        <a:srgbClr val="E7E1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000" i="1" dirty="0">
                <a:solidFill>
                  <a:srgbClr val="E4572E"/>
                </a:solidFill>
              </a:rPr>
              <a:t>Expected years marked est. or target are not confirmed dates. Map coordinates are approximate and must be verified before final use.</a:t>
            </a:r>
            <a:endParaRPr lang="en-US" sz="1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Prototype: Development Outlook Heatmap</a:t>
            </a:r>
            <a:endParaRPr lang="en-US" sz="2600" dirty="0"/>
          </a:p>
        </p:txBody>
      </p:sp>
      <p:pic>
        <p:nvPicPr>
          <p:cNvPr id="3" name="Image 0" descr="/home/claude/heatmap.png">    </p:cNvPr>
          <p:cNvPicPr>
            <a:picLocks noChangeAspect="1"/>
          </p:cNvPicPr>
          <p:nvPr/>
        </p:nvPicPr>
        <p:blipFill>
          <a:blip r:embed="rId1"/>
          <a:stretch>
            <a:fillRect/>
          </a:stretch>
        </p:blipFill>
        <p:spPr>
          <a:xfrm>
            <a:off x="457200" y="1005840"/>
            <a:ext cx="5349240" cy="3566160"/>
          </a:xfrm>
          <a:prstGeom prst="rect">
            <a:avLst/>
          </a:prstGeom>
        </p:spPr>
      </p:pic>
      <p:sp>
        <p:nvSpPr>
          <p:cNvPr id="4" name="Shape 1"/>
          <p:cNvSpPr/>
          <p:nvPr/>
        </p:nvSpPr>
        <p:spPr>
          <a:xfrm>
            <a:off x="5989320" y="1005840"/>
            <a:ext cx="2697480" cy="3566160"/>
          </a:xfrm>
          <a:prstGeom prst="roundRect">
            <a:avLst>
              <a:gd name="adj" fmla="val 4746"/>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5" name="Text 2"/>
          <p:cNvSpPr txBox="1"/>
          <p:nvPr/>
        </p:nvSpPr>
        <p:spPr>
          <a:xfrm>
            <a:off x="6172200" y="1143000"/>
            <a:ext cx="2377440" cy="228600"/>
          </a:xfrm>
          <a:prstGeom prst="rect">
            <a:avLst/>
          </a:prstGeom>
          <a:noFill/>
          <a:ln/>
        </p:spPr>
        <p:txBody>
          <a:bodyPr wrap="square" lIns="0" tIns="0" rIns="0" bIns="0" rtlCol="0" anchor="t"/>
          <a:lstStyle/>
          <a:p>
            <a:pPr indent="0" marL="0">
              <a:buNone/>
            </a:pPr>
            <a:r>
              <a:rPr lang="en-US" sz="1100" b="1" dirty="0">
                <a:solidFill>
                  <a:srgbClr val="3B5BA5"/>
                </a:solidFill>
              </a:rPr>
              <a:t>HOW TO READ</a:t>
            </a:r>
            <a:endParaRPr lang="en-US" sz="1100" dirty="0"/>
          </a:p>
        </p:txBody>
      </p:sp>
      <p:sp>
        <p:nvSpPr>
          <p:cNvPr id="6" name="Text 3"/>
          <p:cNvSpPr txBox="1"/>
          <p:nvPr/>
        </p:nvSpPr>
        <p:spPr>
          <a:xfrm>
            <a:off x="6172200" y="1463040"/>
            <a:ext cx="2377440" cy="30175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2283A"/>
                </a:solidFill>
              </a:rPr>
              <a:t>Darker cells mean a higher outlook score.</a:t>
            </a:r>
            <a:endParaRPr lang="en-US" sz="1100" dirty="0"/>
          </a:p>
          <a:p>
            <a:pPr marL="342900" indent="-342900">
              <a:spcAft>
                <a:spcPts val="600"/>
              </a:spcAft>
              <a:buSzPct val="100000"/>
              <a:buChar char="•"/>
            </a:pPr>
            <a:r>
              <a:rPr lang="en-US" sz="1100" dirty="0">
                <a:solidFill>
                  <a:srgbClr val="22283A"/>
                </a:solidFill>
              </a:rPr>
              <a:t>Built from 5 real projects around Sangli-Miraj.</a:t>
            </a:r>
            <a:endParaRPr lang="en-US" sz="1100" dirty="0"/>
          </a:p>
          <a:p>
            <a:pPr marL="342900" indent="-342900">
              <a:spcAft>
                <a:spcPts val="600"/>
              </a:spcAft>
              <a:buSzPct val="100000"/>
              <a:buChar char="•"/>
            </a:pPr>
            <a:r>
              <a:rPr lang="en-US" sz="1100" dirty="0">
                <a:solidFill>
                  <a:srgbClr val="22283A"/>
                </a:solidFill>
              </a:rPr>
              <a:t>The peak near Miraj comes from the completed rail doubling, NH-166 and MIDC.</a:t>
            </a:r>
            <a:endParaRPr lang="en-US" sz="1100" dirty="0"/>
          </a:p>
          <a:p>
            <a:pPr marL="342900" indent="-342900">
              <a:spcAft>
                <a:spcPts val="600"/>
              </a:spcAft>
              <a:buSzPct val="100000"/>
              <a:buChar char="•"/>
            </a:pPr>
            <a:r>
              <a:rPr lang="en-US" sz="1100" dirty="0">
                <a:solidFill>
                  <a:srgbClr val="22283A"/>
                </a:solidFill>
              </a:rPr>
              <a:t>Scores will shift as more projects are added.</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Prototype: Breakdown &amp; Filters</a:t>
            </a:r>
            <a:endParaRPr lang="en-US" sz="2600" dirty="0"/>
          </a:p>
        </p:txBody>
      </p:sp>
      <p:sp>
        <p:nvSpPr>
          <p:cNvPr id="3" name="Shape 1"/>
          <p:cNvSpPr/>
          <p:nvPr/>
        </p:nvSpPr>
        <p:spPr>
          <a:xfrm>
            <a:off x="457200" y="1051560"/>
            <a:ext cx="4023360" cy="3291840"/>
          </a:xfrm>
          <a:prstGeom prst="roundRect">
            <a:avLst>
              <a:gd name="adj" fmla="val 3889"/>
            </a:avLst>
          </a:prstGeom>
          <a:solidFill>
            <a:srgbClr val="FFFFFF">
              <a:alpha val="75000"/>
            </a:srgbClr>
          </a:solidFill>
          <a:ln w="15875">
            <a:solidFill>
              <a:srgbClr val="7C93D6"/>
            </a:solidFill>
            <a:prstDash val="dash"/>
          </a:ln>
        </p:spPr>
      </p:sp>
      <p:sp>
        <p:nvSpPr>
          <p:cNvPr id="4" name="Text 2"/>
          <p:cNvSpPr txBox="1"/>
          <p:nvPr/>
        </p:nvSpPr>
        <p:spPr>
          <a:xfrm>
            <a:off x="457200" y="2560320"/>
            <a:ext cx="4023360" cy="274320"/>
          </a:xfrm>
          <a:prstGeom prst="rect">
            <a:avLst/>
          </a:prstGeom>
          <a:noFill/>
          <a:ln/>
        </p:spPr>
        <p:txBody>
          <a:bodyPr wrap="square" lIns="0" tIns="0" rIns="0" bIns="0" rtlCol="0" anchor="t"/>
          <a:lstStyle/>
          <a:p>
            <a:pPr algn="ctr" indent="0" marL="0">
              <a:buNone/>
            </a:pPr>
            <a:r>
              <a:rPr lang="en-US" sz="1200" i="1" dirty="0">
                <a:solidFill>
                  <a:srgbClr val="7C93D6"/>
                </a:solidFill>
              </a:rPr>
              <a:t>Insert screenshot here</a:t>
            </a:r>
            <a:endParaRPr lang="en-US" sz="1200" dirty="0"/>
          </a:p>
        </p:txBody>
      </p:sp>
      <p:sp>
        <p:nvSpPr>
          <p:cNvPr id="5" name="Text 3"/>
          <p:cNvSpPr txBox="1"/>
          <p:nvPr/>
        </p:nvSpPr>
        <p:spPr>
          <a:xfrm>
            <a:off x="457200" y="4434840"/>
            <a:ext cx="4023360" cy="274320"/>
          </a:xfrm>
          <a:prstGeom prst="rect">
            <a:avLst/>
          </a:prstGeom>
          <a:noFill/>
          <a:ln/>
        </p:spPr>
        <p:txBody>
          <a:bodyPr wrap="square" lIns="0" tIns="0" rIns="0" bIns="0" rtlCol="0" anchor="t"/>
          <a:lstStyle/>
          <a:p>
            <a:pPr algn="ctr" indent="0" marL="0">
              <a:buNone/>
            </a:pPr>
            <a:r>
              <a:rPr lang="en-US" sz="1100" b="1" dirty="0">
                <a:solidFill>
                  <a:srgbClr val="1F2A44"/>
                </a:solidFill>
              </a:rPr>
              <a:t>Per-project score breakdown for a selected area</a:t>
            </a:r>
            <a:endParaRPr lang="en-US" sz="1100" dirty="0"/>
          </a:p>
        </p:txBody>
      </p:sp>
      <p:sp>
        <p:nvSpPr>
          <p:cNvPr id="6" name="Shape 4"/>
          <p:cNvSpPr/>
          <p:nvPr/>
        </p:nvSpPr>
        <p:spPr>
          <a:xfrm>
            <a:off x="4663440" y="1051560"/>
            <a:ext cx="4023360" cy="3291840"/>
          </a:xfrm>
          <a:prstGeom prst="roundRect">
            <a:avLst>
              <a:gd name="adj" fmla="val 3889"/>
            </a:avLst>
          </a:prstGeom>
          <a:solidFill>
            <a:srgbClr val="FFFFFF">
              <a:alpha val="75000"/>
            </a:srgbClr>
          </a:solidFill>
          <a:ln w="15875">
            <a:solidFill>
              <a:srgbClr val="7C93D6"/>
            </a:solidFill>
            <a:prstDash val="dash"/>
          </a:ln>
        </p:spPr>
      </p:sp>
      <p:sp>
        <p:nvSpPr>
          <p:cNvPr id="7" name="Text 5"/>
          <p:cNvSpPr txBox="1"/>
          <p:nvPr/>
        </p:nvSpPr>
        <p:spPr>
          <a:xfrm>
            <a:off x="4663440" y="2560320"/>
            <a:ext cx="4023360" cy="274320"/>
          </a:xfrm>
          <a:prstGeom prst="rect">
            <a:avLst/>
          </a:prstGeom>
          <a:noFill/>
          <a:ln/>
        </p:spPr>
        <p:txBody>
          <a:bodyPr wrap="square" lIns="0" tIns="0" rIns="0" bIns="0" rtlCol="0" anchor="t"/>
          <a:lstStyle/>
          <a:p>
            <a:pPr algn="ctr" indent="0" marL="0">
              <a:buNone/>
            </a:pPr>
            <a:r>
              <a:rPr lang="en-US" sz="1200" i="1" dirty="0">
                <a:solidFill>
                  <a:srgbClr val="7C93D6"/>
                </a:solidFill>
              </a:rPr>
              <a:t>Insert screenshot here</a:t>
            </a:r>
            <a:endParaRPr lang="en-US" sz="1200" dirty="0"/>
          </a:p>
        </p:txBody>
      </p:sp>
      <p:sp>
        <p:nvSpPr>
          <p:cNvPr id="8" name="Text 6"/>
          <p:cNvSpPr txBox="1"/>
          <p:nvPr/>
        </p:nvSpPr>
        <p:spPr>
          <a:xfrm>
            <a:off x="4663440" y="4434840"/>
            <a:ext cx="4023360" cy="274320"/>
          </a:xfrm>
          <a:prstGeom prst="rect">
            <a:avLst/>
          </a:prstGeom>
          <a:noFill/>
          <a:ln/>
        </p:spPr>
        <p:txBody>
          <a:bodyPr wrap="square" lIns="0" tIns="0" rIns="0" bIns="0" rtlCol="0" anchor="t"/>
          <a:lstStyle/>
          <a:p>
            <a:pPr algn="ctr" indent="0" marL="0">
              <a:buNone/>
            </a:pPr>
            <a:r>
              <a:rPr lang="en-US" sz="1100" b="1" dirty="0">
                <a:solidFill>
                  <a:srgbClr val="1F2A44"/>
                </a:solidFill>
              </a:rPr>
              <a:t>Stage and completion-year filters</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Current Progress &amp; SDG Alignment</a:t>
            </a:r>
            <a:endParaRPr lang="en-US" sz="2600" dirty="0"/>
          </a:p>
        </p:txBody>
      </p:sp>
      <p:sp>
        <p:nvSpPr>
          <p:cNvPr id="3" name="Shape 1"/>
          <p:cNvSpPr/>
          <p:nvPr/>
        </p:nvSpPr>
        <p:spPr>
          <a:xfrm>
            <a:off x="457200" y="1051560"/>
            <a:ext cx="1956816"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Shape 2"/>
          <p:cNvSpPr/>
          <p:nvPr/>
        </p:nvSpPr>
        <p:spPr>
          <a:xfrm>
            <a:off x="566928" y="1170432"/>
            <a:ext cx="1143000" cy="256032"/>
          </a:xfrm>
          <a:prstGeom prst="roundRect">
            <a:avLst>
              <a:gd name="adj" fmla="val 50000"/>
            </a:avLst>
          </a:prstGeom>
          <a:solidFill>
            <a:srgbClr val="EAEEF8"/>
          </a:solidFill>
          <a:ln/>
        </p:spPr>
      </p:sp>
      <p:sp>
        <p:nvSpPr>
          <p:cNvPr id="5" name="Text 3"/>
          <p:cNvSpPr txBox="1"/>
          <p:nvPr/>
        </p:nvSpPr>
        <p:spPr>
          <a:xfrm>
            <a:off x="566928" y="1170432"/>
            <a:ext cx="1143000" cy="256032"/>
          </a:xfrm>
          <a:prstGeom prst="rect">
            <a:avLst/>
          </a:prstGeom>
          <a:noFill/>
          <a:ln/>
        </p:spPr>
        <p:txBody>
          <a:bodyPr wrap="square" lIns="0" tIns="0" rIns="0" bIns="0" rtlCol="0" anchor="ctr"/>
          <a:lstStyle/>
          <a:p>
            <a:pPr algn="ctr" indent="0" marL="0">
              <a:buNone/>
            </a:pPr>
            <a:r>
              <a:rPr lang="en-US" sz="950" b="1" dirty="0">
                <a:solidFill>
                  <a:srgbClr val="3B5BA5"/>
                </a:solidFill>
              </a:rPr>
              <a:t>DONE</a:t>
            </a:r>
            <a:endParaRPr lang="en-US" sz="950" dirty="0"/>
          </a:p>
        </p:txBody>
      </p:sp>
      <p:sp>
        <p:nvSpPr>
          <p:cNvPr id="6" name="Text 4"/>
          <p:cNvSpPr txBox="1"/>
          <p:nvPr/>
        </p:nvSpPr>
        <p:spPr>
          <a:xfrm>
            <a:off x="566928" y="1554480"/>
            <a:ext cx="1737360" cy="822960"/>
          </a:xfrm>
          <a:prstGeom prst="rect">
            <a:avLst/>
          </a:prstGeom>
          <a:noFill/>
          <a:ln/>
        </p:spPr>
        <p:txBody>
          <a:bodyPr wrap="square" lIns="0" tIns="0" rIns="0" bIns="0" rtlCol="0" anchor="t"/>
          <a:lstStyle/>
          <a:p>
            <a:pPr indent="0" marL="0">
              <a:buNone/>
            </a:pPr>
            <a:r>
              <a:rPr lang="en-US" sz="1200" b="1" dirty="0">
                <a:solidFill>
                  <a:srgbClr val="1F2A44"/>
                </a:solidFill>
              </a:rPr>
              <a:t>Scoring formula designed</a:t>
            </a:r>
            <a:endParaRPr lang="en-US" sz="1200" dirty="0"/>
          </a:p>
        </p:txBody>
      </p:sp>
      <p:sp>
        <p:nvSpPr>
          <p:cNvPr id="7" name="Shape 5"/>
          <p:cNvSpPr/>
          <p:nvPr/>
        </p:nvSpPr>
        <p:spPr>
          <a:xfrm>
            <a:off x="566928" y="2423160"/>
            <a:ext cx="1737360" cy="91440"/>
          </a:xfrm>
          <a:prstGeom prst="roundRect">
            <a:avLst>
              <a:gd name="adj" fmla="val 140000"/>
            </a:avLst>
          </a:prstGeom>
          <a:solidFill>
            <a:srgbClr val="E7E1D6"/>
          </a:solidFill>
          <a:ln/>
        </p:spPr>
      </p:sp>
      <p:sp>
        <p:nvSpPr>
          <p:cNvPr id="8" name="Shape 6"/>
          <p:cNvSpPr/>
          <p:nvPr/>
        </p:nvSpPr>
        <p:spPr>
          <a:xfrm>
            <a:off x="566928" y="2423160"/>
            <a:ext cx="1737360" cy="91440"/>
          </a:xfrm>
          <a:prstGeom prst="roundRect">
            <a:avLst>
              <a:gd name="adj" fmla="val 140000"/>
            </a:avLst>
          </a:prstGeom>
          <a:solidFill>
            <a:srgbClr val="3B5BA5"/>
          </a:solidFill>
          <a:ln/>
        </p:spPr>
      </p:sp>
      <p:sp>
        <p:nvSpPr>
          <p:cNvPr id="9" name="Shape 7"/>
          <p:cNvSpPr/>
          <p:nvPr/>
        </p:nvSpPr>
        <p:spPr>
          <a:xfrm>
            <a:off x="2542032" y="1051560"/>
            <a:ext cx="1956816"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0" name="Shape 8"/>
          <p:cNvSpPr/>
          <p:nvPr/>
        </p:nvSpPr>
        <p:spPr>
          <a:xfrm>
            <a:off x="2651760" y="1170432"/>
            <a:ext cx="1143000" cy="256032"/>
          </a:xfrm>
          <a:prstGeom prst="roundRect">
            <a:avLst>
              <a:gd name="adj" fmla="val 50000"/>
            </a:avLst>
          </a:prstGeom>
          <a:solidFill>
            <a:srgbClr val="EAEEF8"/>
          </a:solidFill>
          <a:ln/>
        </p:spPr>
      </p:sp>
      <p:sp>
        <p:nvSpPr>
          <p:cNvPr id="11" name="Text 9"/>
          <p:cNvSpPr txBox="1"/>
          <p:nvPr/>
        </p:nvSpPr>
        <p:spPr>
          <a:xfrm>
            <a:off x="2651760" y="1170432"/>
            <a:ext cx="1143000" cy="256032"/>
          </a:xfrm>
          <a:prstGeom prst="rect">
            <a:avLst/>
          </a:prstGeom>
          <a:noFill/>
          <a:ln/>
        </p:spPr>
        <p:txBody>
          <a:bodyPr wrap="square" lIns="0" tIns="0" rIns="0" bIns="0" rtlCol="0" anchor="ctr"/>
          <a:lstStyle/>
          <a:p>
            <a:pPr algn="ctr" indent="0" marL="0">
              <a:buNone/>
            </a:pPr>
            <a:r>
              <a:rPr lang="en-US" sz="950" b="1" dirty="0">
                <a:solidFill>
                  <a:srgbClr val="3B5BA5"/>
                </a:solidFill>
              </a:rPr>
              <a:t>DONE</a:t>
            </a:r>
            <a:endParaRPr lang="en-US" sz="950" dirty="0"/>
          </a:p>
        </p:txBody>
      </p:sp>
      <p:sp>
        <p:nvSpPr>
          <p:cNvPr id="12" name="Text 10"/>
          <p:cNvSpPr txBox="1"/>
          <p:nvPr/>
        </p:nvSpPr>
        <p:spPr>
          <a:xfrm>
            <a:off x="2651760" y="1554480"/>
            <a:ext cx="1737360" cy="822960"/>
          </a:xfrm>
          <a:prstGeom prst="rect">
            <a:avLst/>
          </a:prstGeom>
          <a:noFill/>
          <a:ln/>
        </p:spPr>
        <p:txBody>
          <a:bodyPr wrap="square" lIns="0" tIns="0" rIns="0" bIns="0" rtlCol="0" anchor="t"/>
          <a:lstStyle/>
          <a:p>
            <a:pPr indent="0" marL="0">
              <a:buNone/>
            </a:pPr>
            <a:r>
              <a:rPr lang="en-US" sz="1200" b="1" dirty="0">
                <a:solidFill>
                  <a:srgbClr val="1F2A44"/>
                </a:solidFill>
              </a:rPr>
              <a:t>Sangli grid prototype: heatmap, filters, breakdown</a:t>
            </a:r>
            <a:endParaRPr lang="en-US" sz="1200" dirty="0"/>
          </a:p>
        </p:txBody>
      </p:sp>
      <p:sp>
        <p:nvSpPr>
          <p:cNvPr id="13" name="Shape 11"/>
          <p:cNvSpPr/>
          <p:nvPr/>
        </p:nvSpPr>
        <p:spPr>
          <a:xfrm>
            <a:off x="2651760" y="2423160"/>
            <a:ext cx="1737360" cy="91440"/>
          </a:xfrm>
          <a:prstGeom prst="roundRect">
            <a:avLst>
              <a:gd name="adj" fmla="val 140000"/>
            </a:avLst>
          </a:prstGeom>
          <a:solidFill>
            <a:srgbClr val="E7E1D6"/>
          </a:solidFill>
          <a:ln/>
        </p:spPr>
      </p:sp>
      <p:sp>
        <p:nvSpPr>
          <p:cNvPr id="14" name="Shape 12"/>
          <p:cNvSpPr/>
          <p:nvPr/>
        </p:nvSpPr>
        <p:spPr>
          <a:xfrm>
            <a:off x="2651760" y="2423160"/>
            <a:ext cx="1737360" cy="91440"/>
          </a:xfrm>
          <a:prstGeom prst="roundRect">
            <a:avLst>
              <a:gd name="adj" fmla="val 140000"/>
            </a:avLst>
          </a:prstGeom>
          <a:solidFill>
            <a:srgbClr val="3B5BA5"/>
          </a:solidFill>
          <a:ln/>
        </p:spPr>
      </p:sp>
      <p:sp>
        <p:nvSpPr>
          <p:cNvPr id="15" name="Shape 13"/>
          <p:cNvSpPr/>
          <p:nvPr/>
        </p:nvSpPr>
        <p:spPr>
          <a:xfrm>
            <a:off x="4626864" y="1051560"/>
            <a:ext cx="1956816"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6" name="Shape 14"/>
          <p:cNvSpPr/>
          <p:nvPr/>
        </p:nvSpPr>
        <p:spPr>
          <a:xfrm>
            <a:off x="4736592" y="1170432"/>
            <a:ext cx="1143000" cy="256032"/>
          </a:xfrm>
          <a:prstGeom prst="roundRect">
            <a:avLst>
              <a:gd name="adj" fmla="val 50000"/>
            </a:avLst>
          </a:prstGeom>
          <a:solidFill>
            <a:srgbClr val="EAEEF8"/>
          </a:solidFill>
          <a:ln/>
        </p:spPr>
      </p:sp>
      <p:sp>
        <p:nvSpPr>
          <p:cNvPr id="17" name="Text 15"/>
          <p:cNvSpPr txBox="1"/>
          <p:nvPr/>
        </p:nvSpPr>
        <p:spPr>
          <a:xfrm>
            <a:off x="4736592" y="1170432"/>
            <a:ext cx="1143000" cy="256032"/>
          </a:xfrm>
          <a:prstGeom prst="rect">
            <a:avLst/>
          </a:prstGeom>
          <a:noFill/>
          <a:ln/>
        </p:spPr>
        <p:txBody>
          <a:bodyPr wrap="square" lIns="0" tIns="0" rIns="0" bIns="0" rtlCol="0" anchor="ctr"/>
          <a:lstStyle/>
          <a:p>
            <a:pPr algn="ctr" indent="0" marL="0">
              <a:buNone/>
            </a:pPr>
            <a:r>
              <a:rPr lang="en-US" sz="950" b="1" dirty="0">
                <a:solidFill>
                  <a:srgbClr val="3B5BA5"/>
                </a:solidFill>
              </a:rPr>
              <a:t>IN PROGRESS</a:t>
            </a:r>
            <a:endParaRPr lang="en-US" sz="950" dirty="0"/>
          </a:p>
        </p:txBody>
      </p:sp>
      <p:sp>
        <p:nvSpPr>
          <p:cNvPr id="18" name="Text 16"/>
          <p:cNvSpPr txBox="1"/>
          <p:nvPr/>
        </p:nvSpPr>
        <p:spPr>
          <a:xfrm>
            <a:off x="4736592" y="1554480"/>
            <a:ext cx="1737360" cy="822960"/>
          </a:xfrm>
          <a:prstGeom prst="rect">
            <a:avLst/>
          </a:prstGeom>
          <a:noFill/>
          <a:ln/>
        </p:spPr>
        <p:txBody>
          <a:bodyPr wrap="square" lIns="0" tIns="0" rIns="0" bIns="0" rtlCol="0" anchor="t"/>
          <a:lstStyle/>
          <a:p>
            <a:pPr indent="0" marL="0">
              <a:buNone/>
            </a:pPr>
            <a:r>
              <a:rPr lang="en-US" sz="1200" b="1" dirty="0">
                <a:solidFill>
                  <a:srgbClr val="1F2A44"/>
                </a:solidFill>
              </a:rPr>
              <a:t>Verified project registry from official notices</a:t>
            </a:r>
            <a:endParaRPr lang="en-US" sz="1200" dirty="0"/>
          </a:p>
        </p:txBody>
      </p:sp>
      <p:sp>
        <p:nvSpPr>
          <p:cNvPr id="19" name="Shape 17"/>
          <p:cNvSpPr/>
          <p:nvPr/>
        </p:nvSpPr>
        <p:spPr>
          <a:xfrm>
            <a:off x="4736592" y="2423160"/>
            <a:ext cx="1737360" cy="91440"/>
          </a:xfrm>
          <a:prstGeom prst="roundRect">
            <a:avLst>
              <a:gd name="adj" fmla="val 140000"/>
            </a:avLst>
          </a:prstGeom>
          <a:solidFill>
            <a:srgbClr val="E7E1D6"/>
          </a:solidFill>
          <a:ln/>
        </p:spPr>
      </p:sp>
      <p:sp>
        <p:nvSpPr>
          <p:cNvPr id="20" name="Shape 18"/>
          <p:cNvSpPr/>
          <p:nvPr/>
        </p:nvSpPr>
        <p:spPr>
          <a:xfrm>
            <a:off x="4736592" y="2423160"/>
            <a:ext cx="868680" cy="91440"/>
          </a:xfrm>
          <a:prstGeom prst="roundRect">
            <a:avLst>
              <a:gd name="adj" fmla="val 140000"/>
            </a:avLst>
          </a:prstGeom>
          <a:solidFill>
            <a:srgbClr val="3B5BA5"/>
          </a:solidFill>
          <a:ln/>
        </p:spPr>
      </p:sp>
      <p:sp>
        <p:nvSpPr>
          <p:cNvPr id="21" name="Shape 19"/>
          <p:cNvSpPr/>
          <p:nvPr/>
        </p:nvSpPr>
        <p:spPr>
          <a:xfrm>
            <a:off x="6711696" y="1051560"/>
            <a:ext cx="1956816"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22" name="Shape 20"/>
          <p:cNvSpPr/>
          <p:nvPr/>
        </p:nvSpPr>
        <p:spPr>
          <a:xfrm>
            <a:off x="6821424" y="1170432"/>
            <a:ext cx="1143000" cy="256032"/>
          </a:xfrm>
          <a:prstGeom prst="roundRect">
            <a:avLst>
              <a:gd name="adj" fmla="val 50000"/>
            </a:avLst>
          </a:prstGeom>
          <a:solidFill>
            <a:srgbClr val="EAEEF8"/>
          </a:solidFill>
          <a:ln/>
        </p:spPr>
      </p:sp>
      <p:sp>
        <p:nvSpPr>
          <p:cNvPr id="23" name="Text 21"/>
          <p:cNvSpPr txBox="1"/>
          <p:nvPr/>
        </p:nvSpPr>
        <p:spPr>
          <a:xfrm>
            <a:off x="6821424" y="1170432"/>
            <a:ext cx="1143000" cy="256032"/>
          </a:xfrm>
          <a:prstGeom prst="rect">
            <a:avLst/>
          </a:prstGeom>
          <a:noFill/>
          <a:ln/>
        </p:spPr>
        <p:txBody>
          <a:bodyPr wrap="square" lIns="0" tIns="0" rIns="0" bIns="0" rtlCol="0" anchor="ctr"/>
          <a:lstStyle/>
          <a:p>
            <a:pPr algn="ctr" indent="0" marL="0">
              <a:buNone/>
            </a:pPr>
            <a:r>
              <a:rPr lang="en-US" sz="950" b="1" dirty="0">
                <a:solidFill>
                  <a:srgbClr val="3B5BA5"/>
                </a:solidFill>
              </a:rPr>
              <a:t>PLANNED</a:t>
            </a:r>
            <a:endParaRPr lang="en-US" sz="950" dirty="0"/>
          </a:p>
        </p:txBody>
      </p:sp>
      <p:sp>
        <p:nvSpPr>
          <p:cNvPr id="24" name="Text 22"/>
          <p:cNvSpPr txBox="1"/>
          <p:nvPr/>
        </p:nvSpPr>
        <p:spPr>
          <a:xfrm>
            <a:off x="6821424" y="1554480"/>
            <a:ext cx="1737360" cy="822960"/>
          </a:xfrm>
          <a:prstGeom prst="rect">
            <a:avLst/>
          </a:prstGeom>
          <a:noFill/>
          <a:ln/>
        </p:spPr>
        <p:txBody>
          <a:bodyPr wrap="square" lIns="0" tIns="0" rIns="0" bIns="0" rtlCol="0" anchor="t"/>
          <a:lstStyle/>
          <a:p>
            <a:pPr indent="0" marL="0">
              <a:buNone/>
            </a:pPr>
            <a:r>
              <a:rPr lang="en-US" sz="1200" b="1" dirty="0">
                <a:solidFill>
                  <a:srgbClr val="1F2A44"/>
                </a:solidFill>
              </a:rPr>
              <a:t>Backend, database, testing and back-test</a:t>
            </a:r>
            <a:endParaRPr lang="en-US" sz="1200" dirty="0"/>
          </a:p>
        </p:txBody>
      </p:sp>
      <p:sp>
        <p:nvSpPr>
          <p:cNvPr id="25" name="Shape 23"/>
          <p:cNvSpPr/>
          <p:nvPr/>
        </p:nvSpPr>
        <p:spPr>
          <a:xfrm>
            <a:off x="6821424" y="2423160"/>
            <a:ext cx="1737360" cy="91440"/>
          </a:xfrm>
          <a:prstGeom prst="roundRect">
            <a:avLst>
              <a:gd name="adj" fmla="val 140000"/>
            </a:avLst>
          </a:prstGeom>
          <a:solidFill>
            <a:srgbClr val="E7E1D6"/>
          </a:solidFill>
          <a:ln/>
        </p:spPr>
      </p:sp>
      <p:sp>
        <p:nvSpPr>
          <p:cNvPr id="26" name="Shape 24"/>
          <p:cNvSpPr/>
          <p:nvPr/>
        </p:nvSpPr>
        <p:spPr>
          <a:xfrm>
            <a:off x="457200" y="2926080"/>
            <a:ext cx="4023360" cy="1554480"/>
          </a:xfrm>
          <a:prstGeom prst="roundRect">
            <a:avLst>
              <a:gd name="adj" fmla="val 823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27" name="Text 25"/>
          <p:cNvSpPr txBox="1"/>
          <p:nvPr/>
        </p:nvSpPr>
        <p:spPr>
          <a:xfrm>
            <a:off x="685800" y="3063240"/>
            <a:ext cx="3657600" cy="457200"/>
          </a:xfrm>
          <a:prstGeom prst="rect">
            <a:avLst/>
          </a:prstGeom>
          <a:noFill/>
          <a:ln/>
        </p:spPr>
        <p:txBody>
          <a:bodyPr wrap="square" lIns="0" tIns="0" rIns="0" bIns="0" rtlCol="0" anchor="t"/>
          <a:lstStyle/>
          <a:p>
            <a:pPr indent="0" marL="0">
              <a:buNone/>
            </a:pPr>
            <a:r>
              <a:rPr lang="en-US" sz="1300" b="1" dirty="0">
                <a:solidFill>
                  <a:srgbClr val="E4572E"/>
                </a:solidFill>
              </a:rPr>
              <a:t>SDG 9  Industry, Innovation &amp; Infrastructure</a:t>
            </a:r>
            <a:endParaRPr lang="en-US" sz="1300" dirty="0"/>
          </a:p>
        </p:txBody>
      </p:sp>
      <p:sp>
        <p:nvSpPr>
          <p:cNvPr id="28" name="Text 26"/>
          <p:cNvSpPr txBox="1"/>
          <p:nvPr/>
        </p:nvSpPr>
        <p:spPr>
          <a:xfrm>
            <a:off x="685800" y="3611880"/>
            <a:ext cx="3657600" cy="731520"/>
          </a:xfrm>
          <a:prstGeom prst="rect">
            <a:avLst/>
          </a:prstGeom>
          <a:noFill/>
          <a:ln/>
        </p:spPr>
        <p:txBody>
          <a:bodyPr wrap="square" lIns="0" tIns="0" rIns="0" bIns="0" rtlCol="0" anchor="t"/>
          <a:lstStyle/>
          <a:p>
            <a:pPr indent="0" marL="0">
              <a:buNone/>
            </a:pPr>
            <a:r>
              <a:rPr lang="en-US" sz="1200" dirty="0">
                <a:solidFill>
                  <a:srgbClr val="22283A"/>
                </a:solidFill>
              </a:rPr>
              <a:t>Makes infrastructure plans visible and usable as open, structured data.</a:t>
            </a:r>
            <a:endParaRPr lang="en-US" sz="1200" dirty="0"/>
          </a:p>
        </p:txBody>
      </p:sp>
      <p:sp>
        <p:nvSpPr>
          <p:cNvPr id="29" name="Shape 27"/>
          <p:cNvSpPr/>
          <p:nvPr/>
        </p:nvSpPr>
        <p:spPr>
          <a:xfrm>
            <a:off x="4663440" y="2926080"/>
            <a:ext cx="4023360" cy="1554480"/>
          </a:xfrm>
          <a:prstGeom prst="roundRect">
            <a:avLst>
              <a:gd name="adj" fmla="val 8235"/>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30" name="Text 28"/>
          <p:cNvSpPr txBox="1"/>
          <p:nvPr/>
        </p:nvSpPr>
        <p:spPr>
          <a:xfrm>
            <a:off x="4892040" y="3063240"/>
            <a:ext cx="3657600" cy="457200"/>
          </a:xfrm>
          <a:prstGeom prst="rect">
            <a:avLst/>
          </a:prstGeom>
          <a:noFill/>
          <a:ln/>
        </p:spPr>
        <p:txBody>
          <a:bodyPr wrap="square" lIns="0" tIns="0" rIns="0" bIns="0" rtlCol="0" anchor="t"/>
          <a:lstStyle/>
          <a:p>
            <a:pPr indent="0" marL="0">
              <a:buNone/>
            </a:pPr>
            <a:r>
              <a:rPr lang="en-US" sz="1300" b="1" dirty="0">
                <a:solidFill>
                  <a:srgbClr val="3B5BA5"/>
                </a:solidFill>
              </a:rPr>
              <a:t>SDG 11  Sustainable Cities &amp; Communities</a:t>
            </a:r>
            <a:endParaRPr lang="en-US" sz="1300" dirty="0"/>
          </a:p>
        </p:txBody>
      </p:sp>
      <p:sp>
        <p:nvSpPr>
          <p:cNvPr id="31" name="Text 29"/>
          <p:cNvSpPr txBox="1"/>
          <p:nvPr/>
        </p:nvSpPr>
        <p:spPr>
          <a:xfrm>
            <a:off x="4892040" y="3611880"/>
            <a:ext cx="3657600" cy="731520"/>
          </a:xfrm>
          <a:prstGeom prst="rect">
            <a:avLst/>
          </a:prstGeom>
          <a:noFill/>
          <a:ln/>
        </p:spPr>
        <p:txBody>
          <a:bodyPr wrap="square" lIns="0" tIns="0" rIns="0" bIns="0" rtlCol="0" anchor="t"/>
          <a:lstStyle/>
          <a:p>
            <a:pPr indent="0" marL="0">
              <a:buNone/>
            </a:pPr>
            <a:r>
              <a:rPr lang="en-US" sz="1200" dirty="0">
                <a:solidFill>
                  <a:srgbClr val="22283A"/>
                </a:solidFill>
              </a:rPr>
              <a:t>Supports informed, better-distributed urban growth decisions.</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Project Timeline &amp; Roles</a:t>
            </a:r>
            <a:endParaRPr lang="en-US" sz="2600" dirty="0"/>
          </a:p>
        </p:txBody>
      </p:sp>
      <p:sp>
        <p:nvSpPr>
          <p:cNvPr id="3" name="Text 1"/>
          <p:cNvSpPr txBox="1"/>
          <p:nvPr/>
        </p:nvSpPr>
        <p:spPr>
          <a:xfrm>
            <a:off x="2743200"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W1</a:t>
            </a:r>
            <a:endParaRPr lang="en-US" sz="800" dirty="0"/>
          </a:p>
        </p:txBody>
      </p:sp>
      <p:sp>
        <p:nvSpPr>
          <p:cNvPr id="4" name="Text 2"/>
          <p:cNvSpPr txBox="1"/>
          <p:nvPr/>
        </p:nvSpPr>
        <p:spPr>
          <a:xfrm>
            <a:off x="3167743"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W2</a:t>
            </a:r>
            <a:endParaRPr lang="en-US" sz="800" dirty="0"/>
          </a:p>
        </p:txBody>
      </p:sp>
      <p:sp>
        <p:nvSpPr>
          <p:cNvPr id="5" name="Text 3"/>
          <p:cNvSpPr txBox="1"/>
          <p:nvPr/>
        </p:nvSpPr>
        <p:spPr>
          <a:xfrm>
            <a:off x="3592286"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W3</a:t>
            </a:r>
            <a:endParaRPr lang="en-US" sz="800" dirty="0"/>
          </a:p>
        </p:txBody>
      </p:sp>
      <p:sp>
        <p:nvSpPr>
          <p:cNvPr id="6" name="Text 4"/>
          <p:cNvSpPr txBox="1"/>
          <p:nvPr/>
        </p:nvSpPr>
        <p:spPr>
          <a:xfrm>
            <a:off x="4016829"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W4</a:t>
            </a:r>
            <a:endParaRPr lang="en-US" sz="800" dirty="0"/>
          </a:p>
        </p:txBody>
      </p:sp>
      <p:sp>
        <p:nvSpPr>
          <p:cNvPr id="7" name="Text 5"/>
          <p:cNvSpPr txBox="1"/>
          <p:nvPr/>
        </p:nvSpPr>
        <p:spPr>
          <a:xfrm>
            <a:off x="4441371"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W5</a:t>
            </a:r>
            <a:endParaRPr lang="en-US" sz="800" dirty="0"/>
          </a:p>
        </p:txBody>
      </p:sp>
      <p:sp>
        <p:nvSpPr>
          <p:cNvPr id="8" name="Text 6"/>
          <p:cNvSpPr txBox="1"/>
          <p:nvPr/>
        </p:nvSpPr>
        <p:spPr>
          <a:xfrm>
            <a:off x="4865914"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W6</a:t>
            </a:r>
            <a:endParaRPr lang="en-US" sz="800" dirty="0"/>
          </a:p>
        </p:txBody>
      </p:sp>
      <p:sp>
        <p:nvSpPr>
          <p:cNvPr id="9" name="Text 7"/>
          <p:cNvSpPr txBox="1"/>
          <p:nvPr/>
        </p:nvSpPr>
        <p:spPr>
          <a:xfrm>
            <a:off x="5290457"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W7</a:t>
            </a:r>
            <a:endParaRPr lang="en-US" sz="800" dirty="0"/>
          </a:p>
        </p:txBody>
      </p:sp>
      <p:sp>
        <p:nvSpPr>
          <p:cNvPr id="10" name="Text 8"/>
          <p:cNvSpPr txBox="1"/>
          <p:nvPr/>
        </p:nvSpPr>
        <p:spPr>
          <a:xfrm>
            <a:off x="5715000"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W8</a:t>
            </a:r>
            <a:endParaRPr lang="en-US" sz="800" dirty="0"/>
          </a:p>
        </p:txBody>
      </p:sp>
      <p:sp>
        <p:nvSpPr>
          <p:cNvPr id="11" name="Text 9"/>
          <p:cNvSpPr txBox="1"/>
          <p:nvPr/>
        </p:nvSpPr>
        <p:spPr>
          <a:xfrm>
            <a:off x="6139543"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W9</a:t>
            </a:r>
            <a:endParaRPr lang="en-US" sz="800" dirty="0"/>
          </a:p>
        </p:txBody>
      </p:sp>
      <p:sp>
        <p:nvSpPr>
          <p:cNvPr id="12" name="Text 10"/>
          <p:cNvSpPr txBox="1"/>
          <p:nvPr/>
        </p:nvSpPr>
        <p:spPr>
          <a:xfrm>
            <a:off x="6564086"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W10</a:t>
            </a:r>
            <a:endParaRPr lang="en-US" sz="800" dirty="0"/>
          </a:p>
        </p:txBody>
      </p:sp>
      <p:sp>
        <p:nvSpPr>
          <p:cNvPr id="13" name="Text 11"/>
          <p:cNvSpPr txBox="1"/>
          <p:nvPr/>
        </p:nvSpPr>
        <p:spPr>
          <a:xfrm>
            <a:off x="6988629"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W11</a:t>
            </a:r>
            <a:endParaRPr lang="en-US" sz="800" dirty="0"/>
          </a:p>
        </p:txBody>
      </p:sp>
      <p:sp>
        <p:nvSpPr>
          <p:cNvPr id="14" name="Text 12"/>
          <p:cNvSpPr txBox="1"/>
          <p:nvPr/>
        </p:nvSpPr>
        <p:spPr>
          <a:xfrm>
            <a:off x="7413171"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W12</a:t>
            </a:r>
            <a:endParaRPr lang="en-US" sz="800" dirty="0"/>
          </a:p>
        </p:txBody>
      </p:sp>
      <p:sp>
        <p:nvSpPr>
          <p:cNvPr id="15" name="Text 13"/>
          <p:cNvSpPr txBox="1"/>
          <p:nvPr/>
        </p:nvSpPr>
        <p:spPr>
          <a:xfrm>
            <a:off x="7837714"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W13</a:t>
            </a:r>
            <a:endParaRPr lang="en-US" sz="800" dirty="0"/>
          </a:p>
        </p:txBody>
      </p:sp>
      <p:sp>
        <p:nvSpPr>
          <p:cNvPr id="16" name="Text 14"/>
          <p:cNvSpPr txBox="1"/>
          <p:nvPr/>
        </p:nvSpPr>
        <p:spPr>
          <a:xfrm>
            <a:off x="8262257" y="1005840"/>
            <a:ext cx="424543" cy="201168"/>
          </a:xfrm>
          <a:prstGeom prst="rect">
            <a:avLst/>
          </a:prstGeom>
          <a:noFill/>
          <a:ln/>
        </p:spPr>
        <p:txBody>
          <a:bodyPr wrap="square" lIns="0" tIns="0" rIns="0" bIns="0" rtlCol="0" anchor="t"/>
          <a:lstStyle/>
          <a:p>
            <a:pPr algn="ctr" indent="0" marL="0">
              <a:buNone/>
            </a:pPr>
            <a:r>
              <a:rPr lang="en-US" sz="800" dirty="0">
                <a:solidFill>
                  <a:srgbClr val="5E6A73"/>
                </a:solidFill>
              </a:rPr>
              <a:t>W14</a:t>
            </a:r>
            <a:endParaRPr lang="en-US" sz="800" dirty="0"/>
          </a:p>
        </p:txBody>
      </p:sp>
      <p:sp>
        <p:nvSpPr>
          <p:cNvPr id="17" name="Text 15"/>
          <p:cNvSpPr txBox="1"/>
          <p:nvPr/>
        </p:nvSpPr>
        <p:spPr>
          <a:xfrm>
            <a:off x="457200" y="1325880"/>
            <a:ext cx="2194560" cy="292608"/>
          </a:xfrm>
          <a:prstGeom prst="rect">
            <a:avLst/>
          </a:prstGeom>
          <a:noFill/>
          <a:ln/>
        </p:spPr>
        <p:txBody>
          <a:bodyPr wrap="square" lIns="0" tIns="0" rIns="0" bIns="0" rtlCol="0" anchor="ctr"/>
          <a:lstStyle/>
          <a:p>
            <a:pPr indent="0" marL="0">
              <a:buNone/>
            </a:pPr>
            <a:r>
              <a:rPr lang="en-US" sz="1150" b="1" dirty="0">
                <a:solidFill>
                  <a:srgbClr val="22283A"/>
                </a:solidFill>
              </a:rPr>
              <a:t>Requirements &amp; design</a:t>
            </a:r>
            <a:endParaRPr lang="en-US" sz="1150" dirty="0"/>
          </a:p>
        </p:txBody>
      </p:sp>
      <p:sp>
        <p:nvSpPr>
          <p:cNvPr id="18" name="Shape 16"/>
          <p:cNvSpPr/>
          <p:nvPr/>
        </p:nvSpPr>
        <p:spPr>
          <a:xfrm>
            <a:off x="2743200" y="1362456"/>
            <a:ext cx="5943600" cy="219456"/>
          </a:xfrm>
          <a:prstGeom prst="roundRect">
            <a:avLst>
              <a:gd name="adj" fmla="val 58333"/>
            </a:avLst>
          </a:prstGeom>
          <a:solidFill>
            <a:srgbClr val="EDE8DD"/>
          </a:solidFill>
          <a:ln/>
        </p:spPr>
      </p:sp>
      <p:sp>
        <p:nvSpPr>
          <p:cNvPr id="19" name="Shape 17"/>
          <p:cNvSpPr/>
          <p:nvPr/>
        </p:nvSpPr>
        <p:spPr>
          <a:xfrm>
            <a:off x="2743200" y="1362456"/>
            <a:ext cx="1273629" cy="219456"/>
          </a:xfrm>
          <a:prstGeom prst="roundRect">
            <a:avLst>
              <a:gd name="adj" fmla="val 58333"/>
            </a:avLst>
          </a:prstGeom>
          <a:solidFill>
            <a:srgbClr val="3B5BA5"/>
          </a:solidFill>
          <a:ln/>
        </p:spPr>
      </p:sp>
      <p:sp>
        <p:nvSpPr>
          <p:cNvPr id="20" name="Text 18"/>
          <p:cNvSpPr txBox="1"/>
          <p:nvPr/>
        </p:nvSpPr>
        <p:spPr>
          <a:xfrm>
            <a:off x="457200" y="1783080"/>
            <a:ext cx="2194560" cy="292608"/>
          </a:xfrm>
          <a:prstGeom prst="rect">
            <a:avLst/>
          </a:prstGeom>
          <a:noFill/>
          <a:ln/>
        </p:spPr>
        <p:txBody>
          <a:bodyPr wrap="square" lIns="0" tIns="0" rIns="0" bIns="0" rtlCol="0" anchor="ctr"/>
          <a:lstStyle/>
          <a:p>
            <a:pPr indent="0" marL="0">
              <a:buNone/>
            </a:pPr>
            <a:r>
              <a:rPr lang="en-US" sz="1150" b="1" dirty="0">
                <a:solidFill>
                  <a:srgbClr val="22283A"/>
                </a:solidFill>
              </a:rPr>
              <a:t>Project data registry</a:t>
            </a:r>
            <a:endParaRPr lang="en-US" sz="1150" dirty="0"/>
          </a:p>
        </p:txBody>
      </p:sp>
      <p:sp>
        <p:nvSpPr>
          <p:cNvPr id="21" name="Shape 19"/>
          <p:cNvSpPr/>
          <p:nvPr/>
        </p:nvSpPr>
        <p:spPr>
          <a:xfrm>
            <a:off x="2743200" y="1819656"/>
            <a:ext cx="5943600" cy="219456"/>
          </a:xfrm>
          <a:prstGeom prst="roundRect">
            <a:avLst>
              <a:gd name="adj" fmla="val 58333"/>
            </a:avLst>
          </a:prstGeom>
          <a:solidFill>
            <a:srgbClr val="EDE8DD"/>
          </a:solidFill>
          <a:ln/>
        </p:spPr>
      </p:sp>
      <p:sp>
        <p:nvSpPr>
          <p:cNvPr id="22" name="Shape 20"/>
          <p:cNvSpPr/>
          <p:nvPr/>
        </p:nvSpPr>
        <p:spPr>
          <a:xfrm>
            <a:off x="3167743" y="1819656"/>
            <a:ext cx="2122714" cy="219456"/>
          </a:xfrm>
          <a:prstGeom prst="roundRect">
            <a:avLst>
              <a:gd name="adj" fmla="val 58333"/>
            </a:avLst>
          </a:prstGeom>
          <a:solidFill>
            <a:srgbClr val="E4572E"/>
          </a:solidFill>
          <a:ln/>
        </p:spPr>
      </p:sp>
      <p:sp>
        <p:nvSpPr>
          <p:cNvPr id="23" name="Text 21"/>
          <p:cNvSpPr txBox="1"/>
          <p:nvPr/>
        </p:nvSpPr>
        <p:spPr>
          <a:xfrm>
            <a:off x="457200" y="2240280"/>
            <a:ext cx="2194560" cy="292608"/>
          </a:xfrm>
          <a:prstGeom prst="rect">
            <a:avLst/>
          </a:prstGeom>
          <a:noFill/>
          <a:ln/>
        </p:spPr>
        <p:txBody>
          <a:bodyPr wrap="square" lIns="0" tIns="0" rIns="0" bIns="0" rtlCol="0" anchor="ctr"/>
          <a:lstStyle/>
          <a:p>
            <a:pPr indent="0" marL="0">
              <a:buNone/>
            </a:pPr>
            <a:r>
              <a:rPr lang="en-US" sz="1150" b="1" dirty="0">
                <a:solidFill>
                  <a:srgbClr val="22283A"/>
                </a:solidFill>
              </a:rPr>
              <a:t>Scoring engine &amp; backend</a:t>
            </a:r>
            <a:endParaRPr lang="en-US" sz="1150" dirty="0"/>
          </a:p>
        </p:txBody>
      </p:sp>
      <p:sp>
        <p:nvSpPr>
          <p:cNvPr id="24" name="Shape 22"/>
          <p:cNvSpPr/>
          <p:nvPr/>
        </p:nvSpPr>
        <p:spPr>
          <a:xfrm>
            <a:off x="2743200" y="2276856"/>
            <a:ext cx="5943600" cy="219456"/>
          </a:xfrm>
          <a:prstGeom prst="roundRect">
            <a:avLst>
              <a:gd name="adj" fmla="val 58333"/>
            </a:avLst>
          </a:prstGeom>
          <a:solidFill>
            <a:srgbClr val="EDE8DD"/>
          </a:solidFill>
          <a:ln/>
        </p:spPr>
      </p:sp>
      <p:sp>
        <p:nvSpPr>
          <p:cNvPr id="25" name="Shape 23"/>
          <p:cNvSpPr/>
          <p:nvPr/>
        </p:nvSpPr>
        <p:spPr>
          <a:xfrm>
            <a:off x="4016829" y="2276856"/>
            <a:ext cx="2547257" cy="219456"/>
          </a:xfrm>
          <a:prstGeom prst="roundRect">
            <a:avLst>
              <a:gd name="adj" fmla="val 58333"/>
            </a:avLst>
          </a:prstGeom>
          <a:solidFill>
            <a:srgbClr val="3B5BA5"/>
          </a:solidFill>
          <a:ln/>
        </p:spPr>
      </p:sp>
      <p:sp>
        <p:nvSpPr>
          <p:cNvPr id="26" name="Text 24"/>
          <p:cNvSpPr txBox="1"/>
          <p:nvPr/>
        </p:nvSpPr>
        <p:spPr>
          <a:xfrm>
            <a:off x="457200" y="2697480"/>
            <a:ext cx="2194560" cy="292608"/>
          </a:xfrm>
          <a:prstGeom prst="rect">
            <a:avLst/>
          </a:prstGeom>
          <a:noFill/>
          <a:ln/>
        </p:spPr>
        <p:txBody>
          <a:bodyPr wrap="square" lIns="0" tIns="0" rIns="0" bIns="0" rtlCol="0" anchor="ctr"/>
          <a:lstStyle/>
          <a:p>
            <a:pPr indent="0" marL="0">
              <a:buNone/>
            </a:pPr>
            <a:r>
              <a:rPr lang="en-US" sz="1150" b="1" dirty="0">
                <a:solidFill>
                  <a:srgbClr val="22283A"/>
                </a:solidFill>
              </a:rPr>
              <a:t>Frontend &amp; heatmap</a:t>
            </a:r>
            <a:endParaRPr lang="en-US" sz="1150" dirty="0"/>
          </a:p>
        </p:txBody>
      </p:sp>
      <p:sp>
        <p:nvSpPr>
          <p:cNvPr id="27" name="Shape 25"/>
          <p:cNvSpPr/>
          <p:nvPr/>
        </p:nvSpPr>
        <p:spPr>
          <a:xfrm>
            <a:off x="2743200" y="2734056"/>
            <a:ext cx="5943600" cy="219456"/>
          </a:xfrm>
          <a:prstGeom prst="roundRect">
            <a:avLst>
              <a:gd name="adj" fmla="val 58333"/>
            </a:avLst>
          </a:prstGeom>
          <a:solidFill>
            <a:srgbClr val="EDE8DD"/>
          </a:solidFill>
          <a:ln/>
        </p:spPr>
      </p:sp>
      <p:sp>
        <p:nvSpPr>
          <p:cNvPr id="28" name="Shape 26"/>
          <p:cNvSpPr/>
          <p:nvPr/>
        </p:nvSpPr>
        <p:spPr>
          <a:xfrm>
            <a:off x="5290457" y="2734056"/>
            <a:ext cx="2122714" cy="219456"/>
          </a:xfrm>
          <a:prstGeom prst="roundRect">
            <a:avLst>
              <a:gd name="adj" fmla="val 58333"/>
            </a:avLst>
          </a:prstGeom>
          <a:solidFill>
            <a:srgbClr val="F2A541"/>
          </a:solidFill>
          <a:ln/>
        </p:spPr>
      </p:sp>
      <p:sp>
        <p:nvSpPr>
          <p:cNvPr id="29" name="Text 27"/>
          <p:cNvSpPr txBox="1"/>
          <p:nvPr/>
        </p:nvSpPr>
        <p:spPr>
          <a:xfrm>
            <a:off x="457200" y="3154680"/>
            <a:ext cx="2194560" cy="292608"/>
          </a:xfrm>
          <a:prstGeom prst="rect">
            <a:avLst/>
          </a:prstGeom>
          <a:noFill/>
          <a:ln/>
        </p:spPr>
        <p:txBody>
          <a:bodyPr wrap="square" lIns="0" tIns="0" rIns="0" bIns="0" rtlCol="0" anchor="ctr"/>
          <a:lstStyle/>
          <a:p>
            <a:pPr indent="0" marL="0">
              <a:buNone/>
            </a:pPr>
            <a:r>
              <a:rPr lang="en-US" sz="1150" b="1" dirty="0">
                <a:solidFill>
                  <a:srgbClr val="22283A"/>
                </a:solidFill>
              </a:rPr>
              <a:t>Testing, validation &amp; report</a:t>
            </a:r>
            <a:endParaRPr lang="en-US" sz="1150" dirty="0"/>
          </a:p>
        </p:txBody>
      </p:sp>
      <p:sp>
        <p:nvSpPr>
          <p:cNvPr id="30" name="Shape 28"/>
          <p:cNvSpPr/>
          <p:nvPr/>
        </p:nvSpPr>
        <p:spPr>
          <a:xfrm>
            <a:off x="2743200" y="3191256"/>
            <a:ext cx="5943600" cy="219456"/>
          </a:xfrm>
          <a:prstGeom prst="roundRect">
            <a:avLst>
              <a:gd name="adj" fmla="val 58333"/>
            </a:avLst>
          </a:prstGeom>
          <a:solidFill>
            <a:srgbClr val="EDE8DD"/>
          </a:solidFill>
          <a:ln/>
        </p:spPr>
      </p:sp>
      <p:sp>
        <p:nvSpPr>
          <p:cNvPr id="31" name="Shape 29"/>
          <p:cNvSpPr/>
          <p:nvPr/>
        </p:nvSpPr>
        <p:spPr>
          <a:xfrm>
            <a:off x="6564086" y="3191256"/>
            <a:ext cx="2122714" cy="219456"/>
          </a:xfrm>
          <a:prstGeom prst="roundRect">
            <a:avLst>
              <a:gd name="adj" fmla="val 58333"/>
            </a:avLst>
          </a:prstGeom>
          <a:solidFill>
            <a:srgbClr val="1F2A44"/>
          </a:solidFill>
          <a:ln/>
        </p:spPr>
      </p:sp>
      <p:sp>
        <p:nvSpPr>
          <p:cNvPr id="32" name="Shape 30"/>
          <p:cNvSpPr/>
          <p:nvPr/>
        </p:nvSpPr>
        <p:spPr>
          <a:xfrm>
            <a:off x="457200" y="3749040"/>
            <a:ext cx="2651760" cy="868680"/>
          </a:xfrm>
          <a:prstGeom prst="roundRect">
            <a:avLst>
              <a:gd name="adj" fmla="val 14737"/>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33" name="Text 31"/>
          <p:cNvSpPr txBox="1"/>
          <p:nvPr/>
        </p:nvSpPr>
        <p:spPr>
          <a:xfrm>
            <a:off x="594360" y="3822192"/>
            <a:ext cx="2377440" cy="256032"/>
          </a:xfrm>
          <a:prstGeom prst="rect">
            <a:avLst/>
          </a:prstGeom>
          <a:noFill/>
          <a:ln/>
        </p:spPr>
        <p:txBody>
          <a:bodyPr wrap="square" lIns="0" tIns="0" rIns="0" bIns="0" rtlCol="0" anchor="t"/>
          <a:lstStyle/>
          <a:p>
            <a:pPr indent="0" marL="0">
              <a:buNone/>
            </a:pPr>
            <a:r>
              <a:rPr lang="en-US" sz="1200" b="1" dirty="0">
                <a:solidFill>
                  <a:srgbClr val="1F2A44"/>
                </a:solidFill>
              </a:rPr>
              <a:t>Data &amp; registry</a:t>
            </a:r>
            <a:endParaRPr lang="en-US" sz="1200" dirty="0"/>
          </a:p>
        </p:txBody>
      </p:sp>
      <p:sp>
        <p:nvSpPr>
          <p:cNvPr id="34" name="Text 32"/>
          <p:cNvSpPr txBox="1"/>
          <p:nvPr/>
        </p:nvSpPr>
        <p:spPr>
          <a:xfrm>
            <a:off x="594360" y="4096512"/>
            <a:ext cx="2377440" cy="457200"/>
          </a:xfrm>
          <a:prstGeom prst="rect">
            <a:avLst/>
          </a:prstGeom>
          <a:noFill/>
          <a:ln/>
        </p:spPr>
        <p:txBody>
          <a:bodyPr wrap="square" lIns="0" tIns="0" rIns="0" bIns="0" rtlCol="0" anchor="t"/>
          <a:lstStyle/>
          <a:p>
            <a:pPr indent="0" marL="0">
              <a:buNone/>
            </a:pPr>
            <a:r>
              <a:rPr lang="en-US" sz="1050" dirty="0">
                <a:solidFill>
                  <a:srgbClr val="5E6A73"/>
                </a:solidFill>
              </a:rPr>
              <a:t>Collect notices, record stage and year, verify coordinates.</a:t>
            </a:r>
            <a:endParaRPr lang="en-US" sz="1050" dirty="0"/>
          </a:p>
        </p:txBody>
      </p:sp>
      <p:sp>
        <p:nvSpPr>
          <p:cNvPr id="35" name="Shape 33"/>
          <p:cNvSpPr/>
          <p:nvPr/>
        </p:nvSpPr>
        <p:spPr>
          <a:xfrm>
            <a:off x="3246120" y="3749040"/>
            <a:ext cx="2651760" cy="868680"/>
          </a:xfrm>
          <a:prstGeom prst="roundRect">
            <a:avLst>
              <a:gd name="adj" fmla="val 14737"/>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36" name="Text 34"/>
          <p:cNvSpPr txBox="1"/>
          <p:nvPr/>
        </p:nvSpPr>
        <p:spPr>
          <a:xfrm>
            <a:off x="3383280" y="3822192"/>
            <a:ext cx="2377440" cy="256032"/>
          </a:xfrm>
          <a:prstGeom prst="rect">
            <a:avLst/>
          </a:prstGeom>
          <a:noFill/>
          <a:ln/>
        </p:spPr>
        <p:txBody>
          <a:bodyPr wrap="square" lIns="0" tIns="0" rIns="0" bIns="0" rtlCol="0" anchor="t"/>
          <a:lstStyle/>
          <a:p>
            <a:pPr indent="0" marL="0">
              <a:buNone/>
            </a:pPr>
            <a:r>
              <a:rPr lang="en-US" sz="1200" b="1" dirty="0">
                <a:solidFill>
                  <a:srgbClr val="1F2A44"/>
                </a:solidFill>
              </a:rPr>
              <a:t>Engine &amp; backend</a:t>
            </a:r>
            <a:endParaRPr lang="en-US" sz="1200" dirty="0"/>
          </a:p>
        </p:txBody>
      </p:sp>
      <p:sp>
        <p:nvSpPr>
          <p:cNvPr id="37" name="Text 35"/>
          <p:cNvSpPr txBox="1"/>
          <p:nvPr/>
        </p:nvSpPr>
        <p:spPr>
          <a:xfrm>
            <a:off x="3383280" y="4096512"/>
            <a:ext cx="2377440" cy="457200"/>
          </a:xfrm>
          <a:prstGeom prst="rect">
            <a:avLst/>
          </a:prstGeom>
          <a:noFill/>
          <a:ln/>
        </p:spPr>
        <p:txBody>
          <a:bodyPr wrap="square" lIns="0" tIns="0" rIns="0" bIns="0" rtlCol="0" anchor="t"/>
          <a:lstStyle/>
          <a:p>
            <a:pPr indent="0" marL="0">
              <a:buNone/>
            </a:pPr>
            <a:r>
              <a:rPr lang="en-US" sz="1050" dirty="0">
                <a:solidFill>
                  <a:srgbClr val="5E6A73"/>
                </a:solidFill>
              </a:rPr>
              <a:t>Scoring formula, API, database, tests.</a:t>
            </a:r>
            <a:endParaRPr lang="en-US" sz="1050" dirty="0"/>
          </a:p>
        </p:txBody>
      </p:sp>
      <p:sp>
        <p:nvSpPr>
          <p:cNvPr id="38" name="Shape 36"/>
          <p:cNvSpPr/>
          <p:nvPr/>
        </p:nvSpPr>
        <p:spPr>
          <a:xfrm>
            <a:off x="6035040" y="3749040"/>
            <a:ext cx="2651760" cy="868680"/>
          </a:xfrm>
          <a:prstGeom prst="roundRect">
            <a:avLst>
              <a:gd name="adj" fmla="val 14737"/>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39" name="Text 37"/>
          <p:cNvSpPr txBox="1"/>
          <p:nvPr/>
        </p:nvSpPr>
        <p:spPr>
          <a:xfrm>
            <a:off x="6172200" y="3822192"/>
            <a:ext cx="2377440" cy="256032"/>
          </a:xfrm>
          <a:prstGeom prst="rect">
            <a:avLst/>
          </a:prstGeom>
          <a:noFill/>
          <a:ln/>
        </p:spPr>
        <p:txBody>
          <a:bodyPr wrap="square" lIns="0" tIns="0" rIns="0" bIns="0" rtlCol="0" anchor="t"/>
          <a:lstStyle/>
          <a:p>
            <a:pPr indent="0" marL="0">
              <a:buNone/>
            </a:pPr>
            <a:r>
              <a:rPr lang="en-US" sz="1200" b="1" dirty="0">
                <a:solidFill>
                  <a:srgbClr val="1F2A44"/>
                </a:solidFill>
              </a:rPr>
              <a:t>Frontend &amp; map</a:t>
            </a:r>
            <a:endParaRPr lang="en-US" sz="1200" dirty="0"/>
          </a:p>
        </p:txBody>
      </p:sp>
      <p:sp>
        <p:nvSpPr>
          <p:cNvPr id="40" name="Text 38"/>
          <p:cNvSpPr txBox="1"/>
          <p:nvPr/>
        </p:nvSpPr>
        <p:spPr>
          <a:xfrm>
            <a:off x="6172200" y="4096512"/>
            <a:ext cx="2377440" cy="457200"/>
          </a:xfrm>
          <a:prstGeom prst="rect">
            <a:avLst/>
          </a:prstGeom>
          <a:noFill/>
          <a:ln/>
        </p:spPr>
        <p:txBody>
          <a:bodyPr wrap="square" lIns="0" tIns="0" rIns="0" bIns="0" rtlCol="0" anchor="t"/>
          <a:lstStyle/>
          <a:p>
            <a:pPr indent="0" marL="0">
              <a:buNone/>
            </a:pPr>
            <a:r>
              <a:rPr lang="en-US" sz="1050" dirty="0">
                <a:solidFill>
                  <a:srgbClr val="5E6A73"/>
                </a:solidFill>
              </a:rPr>
              <a:t>Heatmap, filters, breakdown view.</a:t>
            </a:r>
            <a:endParaRPr lang="en-US" sz="1050" dirty="0"/>
          </a:p>
        </p:txBody>
      </p:sp>
      <p:sp>
        <p:nvSpPr>
          <p:cNvPr id="41" name="Text 39"/>
          <p:cNvSpPr txBox="1"/>
          <p:nvPr/>
        </p:nvSpPr>
        <p:spPr>
          <a:xfrm>
            <a:off x="457200" y="4663440"/>
            <a:ext cx="8229600" cy="228600"/>
          </a:xfrm>
          <a:prstGeom prst="rect">
            <a:avLst/>
          </a:prstGeom>
          <a:noFill/>
          <a:ln/>
        </p:spPr>
        <p:txBody>
          <a:bodyPr wrap="square" lIns="0" tIns="0" rIns="0" bIns="0" rtlCol="0" anchor="t"/>
          <a:lstStyle/>
          <a:p>
            <a:pPr indent="0" marL="0">
              <a:buNone/>
            </a:pPr>
            <a:r>
              <a:rPr lang="en-US" sz="950" i="1" dirty="0">
                <a:solidFill>
                  <a:srgbClr val="5E6A73"/>
                </a:solidFill>
              </a:rPr>
              <a:t>Week plan is indicative; adjust to your semester dates and assign one lead per role.</a:t>
            </a:r>
            <a:endParaRPr lang="en-US" sz="9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Risks &amp; Limitations</a:t>
            </a:r>
            <a:endParaRPr lang="en-US" sz="2600" dirty="0"/>
          </a:p>
        </p:txBody>
      </p:sp>
      <p:sp>
        <p:nvSpPr>
          <p:cNvPr id="3" name="Shape 1"/>
          <p:cNvSpPr/>
          <p:nvPr/>
        </p:nvSpPr>
        <p:spPr>
          <a:xfrm>
            <a:off x="457200" y="105156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Text 2"/>
          <p:cNvSpPr txBox="1"/>
          <p:nvPr/>
        </p:nvSpPr>
        <p:spPr>
          <a:xfrm>
            <a:off x="640080" y="1188720"/>
            <a:ext cx="1828800" cy="201168"/>
          </a:xfrm>
          <a:prstGeom prst="rect">
            <a:avLst/>
          </a:prstGeom>
          <a:noFill/>
          <a:ln/>
        </p:spPr>
        <p:txBody>
          <a:bodyPr wrap="square" lIns="0" tIns="0" rIns="0" bIns="0" rtlCol="0" anchor="t"/>
          <a:lstStyle/>
          <a:p>
            <a:pPr indent="0" marL="0">
              <a:buNone/>
            </a:pPr>
            <a:r>
              <a:rPr lang="en-US" sz="1000" b="1" dirty="0">
                <a:solidFill>
                  <a:srgbClr val="E4572E"/>
                </a:solidFill>
              </a:rPr>
              <a:t>RISK</a:t>
            </a:r>
            <a:endParaRPr lang="en-US" sz="1000" dirty="0"/>
          </a:p>
        </p:txBody>
      </p:sp>
      <p:sp>
        <p:nvSpPr>
          <p:cNvPr id="5" name="Text 3"/>
          <p:cNvSpPr txBox="1"/>
          <p:nvPr/>
        </p:nvSpPr>
        <p:spPr>
          <a:xfrm>
            <a:off x="640080" y="141732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Incomplete or outdated project data</a:t>
            </a:r>
            <a:endParaRPr lang="en-US" sz="1300" dirty="0"/>
          </a:p>
        </p:txBody>
      </p:sp>
      <p:sp>
        <p:nvSpPr>
          <p:cNvPr id="6" name="Text 4"/>
          <p:cNvSpPr txBox="1"/>
          <p:nvPr/>
        </p:nvSpPr>
        <p:spPr>
          <a:xfrm>
            <a:off x="640080" y="1828800"/>
            <a:ext cx="3657600" cy="731520"/>
          </a:xfrm>
          <a:prstGeom prst="rect">
            <a:avLst/>
          </a:prstGeom>
          <a:noFill/>
          <a:ln/>
        </p:spPr>
        <p:txBody>
          <a:bodyPr wrap="square" lIns="0" tIns="0" rIns="0" bIns="0" rtlCol="0" anchor="t"/>
          <a:lstStyle/>
          <a:p>
            <a:pPr indent="0" marL="0">
              <a:buNone/>
            </a:pPr>
            <a:r>
              <a:rPr lang="en-US" sz="1100" b="1" dirty="0">
                <a:solidFill>
                  <a:srgbClr val="3B5BA5"/>
                </a:solidFill>
              </a:rPr>
              <a:t>Mitigation: </a:t>
            </a:r>
            <a:pPr indent="0" marL="0">
              <a:buNone/>
            </a:pPr>
            <a:r>
              <a:rPr lang="en-US" sz="1100" dirty="0">
                <a:solidFill>
                  <a:srgbClr val="22283A"/>
                </a:solidFill>
              </a:rPr>
              <a:t>Record a source and date for every project; admin review before publishing.</a:t>
            </a:r>
            <a:endParaRPr lang="en-US" sz="1100" dirty="0"/>
          </a:p>
        </p:txBody>
      </p:sp>
      <p:sp>
        <p:nvSpPr>
          <p:cNvPr id="7" name="Shape 5"/>
          <p:cNvSpPr/>
          <p:nvPr/>
        </p:nvSpPr>
        <p:spPr>
          <a:xfrm>
            <a:off x="4663440" y="105156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8" name="Text 6"/>
          <p:cNvSpPr txBox="1"/>
          <p:nvPr/>
        </p:nvSpPr>
        <p:spPr>
          <a:xfrm>
            <a:off x="4846320" y="1188720"/>
            <a:ext cx="1828800" cy="201168"/>
          </a:xfrm>
          <a:prstGeom prst="rect">
            <a:avLst/>
          </a:prstGeom>
          <a:noFill/>
          <a:ln/>
        </p:spPr>
        <p:txBody>
          <a:bodyPr wrap="square" lIns="0" tIns="0" rIns="0" bIns="0" rtlCol="0" anchor="t"/>
          <a:lstStyle/>
          <a:p>
            <a:pPr indent="0" marL="0">
              <a:buNone/>
            </a:pPr>
            <a:r>
              <a:rPr lang="en-US" sz="1000" b="1" dirty="0">
                <a:solidFill>
                  <a:srgbClr val="E4572E"/>
                </a:solidFill>
              </a:rPr>
              <a:t>RISK</a:t>
            </a:r>
            <a:endParaRPr lang="en-US" sz="1000" dirty="0"/>
          </a:p>
        </p:txBody>
      </p:sp>
      <p:sp>
        <p:nvSpPr>
          <p:cNvPr id="9" name="Text 7"/>
          <p:cNvSpPr txBox="1"/>
          <p:nvPr/>
        </p:nvSpPr>
        <p:spPr>
          <a:xfrm>
            <a:off x="4846320" y="141732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Subjective weights</a:t>
            </a:r>
            <a:endParaRPr lang="en-US" sz="1300" dirty="0"/>
          </a:p>
        </p:txBody>
      </p:sp>
      <p:sp>
        <p:nvSpPr>
          <p:cNvPr id="10" name="Text 8"/>
          <p:cNvSpPr txBox="1"/>
          <p:nvPr/>
        </p:nvSpPr>
        <p:spPr>
          <a:xfrm>
            <a:off x="4846320" y="1828800"/>
            <a:ext cx="3657600" cy="731520"/>
          </a:xfrm>
          <a:prstGeom prst="rect">
            <a:avLst/>
          </a:prstGeom>
          <a:noFill/>
          <a:ln/>
        </p:spPr>
        <p:txBody>
          <a:bodyPr wrap="square" lIns="0" tIns="0" rIns="0" bIns="0" rtlCol="0" anchor="t"/>
          <a:lstStyle/>
          <a:p>
            <a:pPr indent="0" marL="0">
              <a:buNone/>
            </a:pPr>
            <a:r>
              <a:rPr lang="en-US" sz="1100" b="1" dirty="0">
                <a:solidFill>
                  <a:srgbClr val="3B5BA5"/>
                </a:solidFill>
              </a:rPr>
              <a:t>Mitigation: </a:t>
            </a:r>
            <a:pPr indent="0" marL="0">
              <a:buNone/>
            </a:pPr>
            <a:r>
              <a:rPr lang="en-US" sz="1100" dirty="0">
                <a:solidFill>
                  <a:srgbClr val="22283A"/>
                </a:solidFill>
              </a:rPr>
              <a:t>Set weights with AHP and local experts; check with ±20% sensitivity and a back-test.</a:t>
            </a:r>
            <a:endParaRPr lang="en-US" sz="1100" dirty="0"/>
          </a:p>
        </p:txBody>
      </p:sp>
      <p:sp>
        <p:nvSpPr>
          <p:cNvPr id="11" name="Shape 9"/>
          <p:cNvSpPr/>
          <p:nvPr/>
        </p:nvSpPr>
        <p:spPr>
          <a:xfrm>
            <a:off x="457200" y="283464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2" name="Text 10"/>
          <p:cNvSpPr txBox="1"/>
          <p:nvPr/>
        </p:nvSpPr>
        <p:spPr>
          <a:xfrm>
            <a:off x="640080" y="2971800"/>
            <a:ext cx="1828800" cy="201168"/>
          </a:xfrm>
          <a:prstGeom prst="rect">
            <a:avLst/>
          </a:prstGeom>
          <a:noFill/>
          <a:ln/>
        </p:spPr>
        <p:txBody>
          <a:bodyPr wrap="square" lIns="0" tIns="0" rIns="0" bIns="0" rtlCol="0" anchor="t"/>
          <a:lstStyle/>
          <a:p>
            <a:pPr indent="0" marL="0">
              <a:buNone/>
            </a:pPr>
            <a:r>
              <a:rPr lang="en-US" sz="1000" b="1" dirty="0">
                <a:solidFill>
                  <a:srgbClr val="E4572E"/>
                </a:solidFill>
              </a:rPr>
              <a:t>RISK</a:t>
            </a:r>
            <a:endParaRPr lang="en-US" sz="1000" dirty="0"/>
          </a:p>
        </p:txBody>
      </p:sp>
      <p:sp>
        <p:nvSpPr>
          <p:cNvPr id="13" name="Text 11"/>
          <p:cNvSpPr txBox="1"/>
          <p:nvPr/>
        </p:nvSpPr>
        <p:spPr>
          <a:xfrm>
            <a:off x="640080" y="320040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Delays or cancellations</a:t>
            </a:r>
            <a:endParaRPr lang="en-US" sz="1300" dirty="0"/>
          </a:p>
        </p:txBody>
      </p:sp>
      <p:sp>
        <p:nvSpPr>
          <p:cNvPr id="14" name="Text 12"/>
          <p:cNvSpPr txBox="1"/>
          <p:nvPr/>
        </p:nvSpPr>
        <p:spPr>
          <a:xfrm>
            <a:off x="640080" y="3611880"/>
            <a:ext cx="3657600" cy="731520"/>
          </a:xfrm>
          <a:prstGeom prst="rect">
            <a:avLst/>
          </a:prstGeom>
          <a:noFill/>
          <a:ln/>
        </p:spPr>
        <p:txBody>
          <a:bodyPr wrap="square" lIns="0" tIns="0" rIns="0" bIns="0" rtlCol="0" anchor="t"/>
          <a:lstStyle/>
          <a:p>
            <a:pPr indent="0" marL="0">
              <a:buNone/>
            </a:pPr>
            <a:r>
              <a:rPr lang="en-US" sz="1100" b="1" dirty="0">
                <a:solidFill>
                  <a:srgbClr val="3B5BA5"/>
                </a:solidFill>
              </a:rPr>
              <a:t>Mitigation: </a:t>
            </a:r>
            <a:pPr indent="0" marL="0">
              <a:buNone/>
            </a:pPr>
            <a:r>
              <a:rPr lang="en-US" sz="1100" dirty="0">
                <a:solidFill>
                  <a:srgbClr val="22283A"/>
                </a:solidFill>
              </a:rPr>
              <a:t>Stage certainty and a delay penalty reduce the weight of uncertain projects.</a:t>
            </a:r>
            <a:endParaRPr lang="en-US" sz="1100" dirty="0"/>
          </a:p>
        </p:txBody>
      </p:sp>
      <p:sp>
        <p:nvSpPr>
          <p:cNvPr id="15" name="Shape 13"/>
          <p:cNvSpPr/>
          <p:nvPr/>
        </p:nvSpPr>
        <p:spPr>
          <a:xfrm>
            <a:off x="4663440" y="2834640"/>
            <a:ext cx="4023360" cy="1600200"/>
          </a:xfrm>
          <a:prstGeom prst="roundRect">
            <a:avLst>
              <a:gd name="adj" fmla="val 800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6" name="Text 14"/>
          <p:cNvSpPr txBox="1"/>
          <p:nvPr/>
        </p:nvSpPr>
        <p:spPr>
          <a:xfrm>
            <a:off x="4846320" y="2971800"/>
            <a:ext cx="1828800" cy="201168"/>
          </a:xfrm>
          <a:prstGeom prst="rect">
            <a:avLst/>
          </a:prstGeom>
          <a:noFill/>
          <a:ln/>
        </p:spPr>
        <p:txBody>
          <a:bodyPr wrap="square" lIns="0" tIns="0" rIns="0" bIns="0" rtlCol="0" anchor="t"/>
          <a:lstStyle/>
          <a:p>
            <a:pPr indent="0" marL="0">
              <a:buNone/>
            </a:pPr>
            <a:r>
              <a:rPr lang="en-US" sz="1000" b="1" dirty="0">
                <a:solidFill>
                  <a:srgbClr val="E4572E"/>
                </a:solidFill>
              </a:rPr>
              <a:t>RISK</a:t>
            </a:r>
            <a:endParaRPr lang="en-US" sz="1000" dirty="0"/>
          </a:p>
        </p:txBody>
      </p:sp>
      <p:sp>
        <p:nvSpPr>
          <p:cNvPr id="17" name="Text 15"/>
          <p:cNvSpPr txBox="1"/>
          <p:nvPr/>
        </p:nvSpPr>
        <p:spPr>
          <a:xfrm>
            <a:off x="4846320" y="3200400"/>
            <a:ext cx="3657600" cy="274320"/>
          </a:xfrm>
          <a:prstGeom prst="rect">
            <a:avLst/>
          </a:prstGeom>
          <a:noFill/>
          <a:ln/>
        </p:spPr>
        <p:txBody>
          <a:bodyPr wrap="square" lIns="0" tIns="0" rIns="0" bIns="0" rtlCol="0" anchor="t"/>
          <a:lstStyle/>
          <a:p>
            <a:pPr indent="0" marL="0">
              <a:buNone/>
            </a:pPr>
            <a:r>
              <a:rPr lang="en-US" sz="1300" b="1" dirty="0">
                <a:solidFill>
                  <a:srgbClr val="1F2A44"/>
                </a:solidFill>
                <a:latin typeface="Georgia" pitchFamily="34" charset="0"/>
                <a:ea typeface="Georgia" pitchFamily="34" charset="-122"/>
                <a:cs typeface="Georgia" pitchFamily="34" charset="-120"/>
              </a:rPr>
              <a:t>Score read as a price forecast</a:t>
            </a:r>
            <a:endParaRPr lang="en-US" sz="1300" dirty="0"/>
          </a:p>
        </p:txBody>
      </p:sp>
      <p:sp>
        <p:nvSpPr>
          <p:cNvPr id="18" name="Text 16"/>
          <p:cNvSpPr txBox="1"/>
          <p:nvPr/>
        </p:nvSpPr>
        <p:spPr>
          <a:xfrm>
            <a:off x="4846320" y="3611880"/>
            <a:ext cx="3657600" cy="731520"/>
          </a:xfrm>
          <a:prstGeom prst="rect">
            <a:avLst/>
          </a:prstGeom>
          <a:noFill/>
          <a:ln/>
        </p:spPr>
        <p:txBody>
          <a:bodyPr wrap="square" lIns="0" tIns="0" rIns="0" bIns="0" rtlCol="0" anchor="t"/>
          <a:lstStyle/>
          <a:p>
            <a:pPr indent="0" marL="0">
              <a:buNone/>
            </a:pPr>
            <a:r>
              <a:rPr lang="en-US" sz="1100" b="1" dirty="0">
                <a:solidFill>
                  <a:srgbClr val="3B5BA5"/>
                </a:solidFill>
              </a:rPr>
              <a:t>Mitigation: </a:t>
            </a:r>
            <a:pPr indent="0" marL="0">
              <a:buNone/>
            </a:pPr>
            <a:r>
              <a:rPr lang="en-US" sz="1100" dirty="0">
                <a:solidFill>
                  <a:srgbClr val="22283A"/>
                </a:solidFill>
              </a:rPr>
              <a:t>Call it an outlook, never show rupee values, and add a clear disclaimer.</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References &amp; Data Sources</a:t>
            </a:r>
            <a:endParaRPr lang="en-US" sz="2600" dirty="0"/>
          </a:p>
        </p:txBody>
      </p:sp>
      <p:sp>
        <p:nvSpPr>
          <p:cNvPr id="3" name="Shape 1"/>
          <p:cNvSpPr/>
          <p:nvPr/>
        </p:nvSpPr>
        <p:spPr>
          <a:xfrm>
            <a:off x="457200" y="1005840"/>
            <a:ext cx="4023360" cy="3566160"/>
          </a:xfrm>
          <a:prstGeom prst="roundRect">
            <a:avLst>
              <a:gd name="adj" fmla="val 359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Shape 2"/>
          <p:cNvSpPr/>
          <p:nvPr/>
        </p:nvSpPr>
        <p:spPr>
          <a:xfrm>
            <a:off x="4663440" y="1005840"/>
            <a:ext cx="4023360" cy="3566160"/>
          </a:xfrm>
          <a:prstGeom prst="roundRect">
            <a:avLst>
              <a:gd name="adj" fmla="val 3590"/>
            </a:avLst>
          </a:prstGeom>
          <a:solidFill>
            <a:srgbClr val="FFFFFF"/>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5" name="Text 3"/>
          <p:cNvSpPr txBox="1"/>
          <p:nvPr/>
        </p:nvSpPr>
        <p:spPr>
          <a:xfrm>
            <a:off x="640080" y="1143000"/>
            <a:ext cx="3657600" cy="228600"/>
          </a:xfrm>
          <a:prstGeom prst="rect">
            <a:avLst/>
          </a:prstGeom>
          <a:noFill/>
          <a:ln/>
        </p:spPr>
        <p:txBody>
          <a:bodyPr wrap="square" lIns="0" tIns="0" rIns="0" bIns="0" rtlCol="0" anchor="t"/>
          <a:lstStyle/>
          <a:p>
            <a:pPr indent="0" marL="0">
              <a:buNone/>
            </a:pPr>
            <a:r>
              <a:rPr lang="en-US" sz="1100" b="1" dirty="0">
                <a:solidFill>
                  <a:srgbClr val="3B5BA5"/>
                </a:solidFill>
              </a:rPr>
              <a:t>LITERATURE</a:t>
            </a:r>
            <a:endParaRPr lang="en-US" sz="1100" dirty="0"/>
          </a:p>
        </p:txBody>
      </p:sp>
      <p:sp>
        <p:nvSpPr>
          <p:cNvPr id="6" name="Text 4"/>
          <p:cNvSpPr txBox="1"/>
          <p:nvPr/>
        </p:nvSpPr>
        <p:spPr>
          <a:xfrm>
            <a:off x="640080" y="1463040"/>
            <a:ext cx="3657600" cy="30175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2283A"/>
                </a:solidFill>
              </a:rPr>
              <a:t>Rosen, S. (1974). Hedonic prices and implicit markets. Journal of Political Economy.</a:t>
            </a:r>
            <a:endParaRPr lang="en-US" sz="1050" dirty="0"/>
          </a:p>
          <a:p>
            <a:pPr marL="342900" indent="-342900">
              <a:spcAft>
                <a:spcPts val="600"/>
              </a:spcAft>
              <a:buSzPct val="100000"/>
              <a:buChar char="•"/>
            </a:pPr>
            <a:r>
              <a:rPr lang="en-US" sz="1050" dirty="0">
                <a:solidFill>
                  <a:srgbClr val="22283A"/>
                </a:solidFill>
              </a:rPr>
              <a:t>Debrezion, G., Pels, E., &amp; Rietveld, P. (2007). The impact of railway stations on residential and commercial property value: a meta-analysis. J. of Real Estate Finance and Economics.</a:t>
            </a:r>
            <a:endParaRPr lang="en-US" sz="1050" dirty="0"/>
          </a:p>
          <a:p>
            <a:pPr marL="342900" indent="-342900">
              <a:spcAft>
                <a:spcPts val="600"/>
              </a:spcAft>
              <a:buSzPct val="100000"/>
              <a:buChar char="•"/>
            </a:pPr>
            <a:r>
              <a:rPr lang="en-US" sz="1050" dirty="0">
                <a:solidFill>
                  <a:srgbClr val="22283A"/>
                </a:solidFill>
              </a:rPr>
              <a:t>Bowes, D. R., &amp; Ihlanfeldt, K. R. (2001). Impacts of rail transit stations on residential property values. J. of Urban Economics.</a:t>
            </a:r>
            <a:endParaRPr lang="en-US" sz="1050" dirty="0"/>
          </a:p>
          <a:p>
            <a:pPr marL="342900" indent="-342900">
              <a:spcAft>
                <a:spcPts val="600"/>
              </a:spcAft>
              <a:buSzPct val="100000"/>
              <a:buChar char="•"/>
            </a:pPr>
            <a:r>
              <a:rPr lang="en-US" sz="1050" dirty="0">
                <a:solidFill>
                  <a:srgbClr val="22283A"/>
                </a:solidFill>
              </a:rPr>
              <a:t>Saaty, T. L. (1980). The Analytic Hierarchy Process. McGraw-Hill.</a:t>
            </a:r>
            <a:endParaRPr lang="en-US" sz="1050" dirty="0"/>
          </a:p>
          <a:p>
            <a:pPr marL="342900" indent="-342900">
              <a:spcAft>
                <a:spcPts val="600"/>
              </a:spcAft>
              <a:buSzPct val="100000"/>
              <a:buChar char="•"/>
            </a:pPr>
            <a:r>
              <a:rPr lang="en-US" sz="1050" dirty="0">
                <a:solidFill>
                  <a:srgbClr val="22283A"/>
                </a:solidFill>
              </a:rPr>
              <a:t>Full details: PropTrack research paper.</a:t>
            </a:r>
            <a:endParaRPr lang="en-US" sz="1050" dirty="0"/>
          </a:p>
        </p:txBody>
      </p:sp>
      <p:sp>
        <p:nvSpPr>
          <p:cNvPr id="7" name="Text 5"/>
          <p:cNvSpPr txBox="1"/>
          <p:nvPr/>
        </p:nvSpPr>
        <p:spPr>
          <a:xfrm>
            <a:off x="4846320" y="1143000"/>
            <a:ext cx="3657600" cy="228600"/>
          </a:xfrm>
          <a:prstGeom prst="rect">
            <a:avLst/>
          </a:prstGeom>
          <a:noFill/>
          <a:ln/>
        </p:spPr>
        <p:txBody>
          <a:bodyPr wrap="square" lIns="0" tIns="0" rIns="0" bIns="0" rtlCol="0" anchor="t"/>
          <a:lstStyle/>
          <a:p>
            <a:pPr indent="0" marL="0">
              <a:buNone/>
            </a:pPr>
            <a:r>
              <a:rPr lang="en-US" sz="1100" b="1" dirty="0">
                <a:solidFill>
                  <a:srgbClr val="E4572E"/>
                </a:solidFill>
              </a:rPr>
              <a:t>DATA SOURCES (ACCESSED OCT 2026)</a:t>
            </a:r>
            <a:endParaRPr lang="en-US" sz="1100" dirty="0"/>
          </a:p>
        </p:txBody>
      </p:sp>
      <p:sp>
        <p:nvSpPr>
          <p:cNvPr id="8" name="Text 6"/>
          <p:cNvSpPr txBox="1"/>
          <p:nvPr/>
        </p:nvSpPr>
        <p:spPr>
          <a:xfrm>
            <a:off x="4846320" y="1417320"/>
            <a:ext cx="3657600" cy="310896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2283A"/>
                </a:solidFill>
              </a:rPr>
              <a:t>NHAI tender 2026_NHAI_267662_1: 4-laning of Kolhapur-Sangli section, NH-166.</a:t>
            </a:r>
            <a:endParaRPr lang="en-US" sz="950" dirty="0"/>
          </a:p>
          <a:p>
            <a:pPr marL="342900" indent="-342900">
              <a:spcAft>
                <a:spcPts val="300"/>
              </a:spcAft>
              <a:buSzPct val="100000"/>
              <a:buChar char="•"/>
            </a:pPr>
            <a:r>
              <a:rPr lang="en-US" sz="950" dirty="0">
                <a:solidFill>
                  <a:srgbClr val="22283A"/>
                </a:solidFill>
              </a:rPr>
              <a:t>Indian Infrastructure (Feb 2024): Sangli-Miraj section of Pune-Miraj-Londa doubling commissioned.</a:t>
            </a:r>
            <a:endParaRPr lang="en-US" sz="950" dirty="0"/>
          </a:p>
          <a:p>
            <a:pPr marL="342900" indent="-342900">
              <a:spcAft>
                <a:spcPts val="300"/>
              </a:spcAft>
              <a:buSzPct val="100000"/>
              <a:buChar char="•"/>
            </a:pPr>
            <a:r>
              <a:rPr lang="en-US" sz="950" dirty="0">
                <a:solidFill>
                  <a:srgbClr val="22283A"/>
                </a:solidFill>
              </a:rPr>
              <a:t>Indian Infrastructure: Sangli-Borgaon 4-laning (NH-166) completion.</a:t>
            </a:r>
            <a:endParaRPr lang="en-US" sz="950" dirty="0"/>
          </a:p>
          <a:p>
            <a:pPr marL="342900" indent="-342900">
              <a:spcAft>
                <a:spcPts val="300"/>
              </a:spcAft>
              <a:buSzPct val="100000"/>
              <a:buChar char="•"/>
            </a:pPr>
            <a:r>
              <a:rPr lang="en-US" sz="950" dirty="0">
                <a:solidFill>
                  <a:srgbClr val="22283A"/>
                </a:solidFill>
              </a:rPr>
              <a:t>NBMCW (11 Jan 2023): Rs 1,130 cr sanctioned for Kolhapur-Sangli roads, NH-166H.</a:t>
            </a:r>
            <a:endParaRPr lang="en-US" sz="950" dirty="0"/>
          </a:p>
          <a:p>
            <a:pPr marL="342900" indent="-342900">
              <a:spcAft>
                <a:spcPts val="300"/>
              </a:spcAft>
              <a:buSzPct val="100000"/>
              <a:buChar char="•"/>
            </a:pPr>
            <a:r>
              <a:rPr lang="en-US" sz="950" dirty="0">
                <a:solidFill>
                  <a:srgbClr val="22283A"/>
                </a:solidFill>
              </a:rPr>
              <a:t>101Reporters (2026): Shaktipeeth Expressway in Sangli villages.</a:t>
            </a:r>
            <a:endParaRPr lang="en-US" sz="950" dirty="0"/>
          </a:p>
          <a:p>
            <a:pPr marL="342900" indent="-342900">
              <a:spcAft>
                <a:spcPts val="300"/>
              </a:spcAft>
              <a:buSzPct val="100000"/>
              <a:buChar char="•"/>
            </a:pPr>
            <a:r>
              <a:rPr lang="en-US" sz="950" dirty="0">
                <a:solidFill>
                  <a:srgbClr val="22283A"/>
                </a:solidFill>
              </a:rPr>
              <a:t>SMMMA: Sangli Miraj MIDC Industrial Area.</a:t>
            </a:r>
            <a:endParaRPr lang="en-US" sz="950" dirty="0"/>
          </a:p>
          <a:p>
            <a:pPr marL="342900" indent="-342900">
              <a:spcAft>
                <a:spcPts val="300"/>
              </a:spcAft>
              <a:buSzPct val="100000"/>
              <a:buChar char="•"/>
            </a:pPr>
            <a:r>
              <a:rPr lang="en-US" sz="950" dirty="0">
                <a:solidFill>
                  <a:srgbClr val="22283A"/>
                </a:solidFill>
              </a:rPr>
              <a:t>JSA (Jun 2026): MTAL Amendment Act, 2026; CCS: agricultural land laws in Maharashtra.</a:t>
            </a:r>
            <a:endParaRPr lang="en-US" sz="950" dirty="0"/>
          </a:p>
          <a:p>
            <a:pPr marL="342900" indent="-342900">
              <a:spcAft>
                <a:spcPts val="300"/>
              </a:spcAft>
              <a:buSzPct val="100000"/>
              <a:buChar char="•"/>
            </a:pPr>
            <a:r>
              <a:rPr lang="en-US" sz="950" dirty="0">
                <a:solidFill>
                  <a:srgbClr val="22283A"/>
                </a:solidFill>
              </a:rPr>
              <a:t>IGR Maharashtra: Annual Statement of Rates, FY 2026-27.</a:t>
            </a:r>
            <a:endParaRPr lang="en-US" sz="9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indent="0" marL="0">
              <a:buNone/>
            </a:pPr>
            <a:r>
              <a:rPr lang="en-US" sz="2600" b="1" dirty="0">
                <a:solidFill>
                  <a:srgbClr val="1F2A44"/>
                </a:solidFill>
                <a:latin typeface="Georgia" pitchFamily="34" charset="0"/>
                <a:ea typeface="Georgia" pitchFamily="34" charset="-122"/>
                <a:cs typeface="Georgia" pitchFamily="34" charset="-120"/>
              </a:rPr>
              <a:t>Outcomes &amp; Future Scope</a:t>
            </a:r>
            <a:endParaRPr lang="en-US" sz="2600" dirty="0"/>
          </a:p>
        </p:txBody>
      </p:sp>
      <p:sp>
        <p:nvSpPr>
          <p:cNvPr id="3" name="Shape 1"/>
          <p:cNvSpPr/>
          <p:nvPr/>
        </p:nvSpPr>
        <p:spPr>
          <a:xfrm>
            <a:off x="457200" y="1051560"/>
            <a:ext cx="2651760" cy="868680"/>
          </a:xfrm>
          <a:prstGeom prst="roundRect">
            <a:avLst>
              <a:gd name="adj" fmla="val 14737"/>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4" name="Text 2"/>
          <p:cNvSpPr txBox="1"/>
          <p:nvPr/>
        </p:nvSpPr>
        <p:spPr>
          <a:xfrm>
            <a:off x="594360" y="1143000"/>
            <a:ext cx="2377440" cy="274320"/>
          </a:xfrm>
          <a:prstGeom prst="rect">
            <a:avLst/>
          </a:prstGeom>
          <a:noFill/>
          <a:ln/>
        </p:spPr>
        <p:txBody>
          <a:bodyPr wrap="square" lIns="0" tIns="0" rIns="0" bIns="0" rtlCol="0" anchor="t"/>
          <a:lstStyle/>
          <a:p>
            <a:pPr indent="0" marL="0">
              <a:buNone/>
            </a:pPr>
            <a:r>
              <a:rPr lang="en-US" sz="1300" b="1" dirty="0">
                <a:solidFill>
                  <a:srgbClr val="1F2A44"/>
                </a:solidFill>
              </a:rPr>
              <a:t>Deployed web app</a:t>
            </a:r>
            <a:endParaRPr lang="en-US" sz="1300" dirty="0"/>
          </a:p>
        </p:txBody>
      </p:sp>
      <p:sp>
        <p:nvSpPr>
          <p:cNvPr id="5" name="Text 3"/>
          <p:cNvSpPr txBox="1"/>
          <p:nvPr/>
        </p:nvSpPr>
        <p:spPr>
          <a:xfrm>
            <a:off x="594360" y="1463040"/>
            <a:ext cx="2377440" cy="365760"/>
          </a:xfrm>
          <a:prstGeom prst="rect">
            <a:avLst/>
          </a:prstGeom>
          <a:noFill/>
          <a:ln/>
        </p:spPr>
        <p:txBody>
          <a:bodyPr wrap="square" lIns="0" tIns="0" rIns="0" bIns="0" rtlCol="0" anchor="t"/>
          <a:lstStyle/>
          <a:p>
            <a:pPr indent="0" marL="0">
              <a:buNone/>
            </a:pPr>
            <a:r>
              <a:rPr lang="en-US" sz="1100" dirty="0">
                <a:solidFill>
                  <a:srgbClr val="5E6A73"/>
                </a:solidFill>
              </a:rPr>
              <a:t>Map, score and breakdown</a:t>
            </a:r>
            <a:endParaRPr lang="en-US" sz="1100" dirty="0"/>
          </a:p>
        </p:txBody>
      </p:sp>
      <p:sp>
        <p:nvSpPr>
          <p:cNvPr id="6" name="Shape 4"/>
          <p:cNvSpPr/>
          <p:nvPr/>
        </p:nvSpPr>
        <p:spPr>
          <a:xfrm>
            <a:off x="3246120" y="1051560"/>
            <a:ext cx="2651760" cy="868680"/>
          </a:xfrm>
          <a:prstGeom prst="roundRect">
            <a:avLst>
              <a:gd name="adj" fmla="val 14737"/>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7" name="Text 5"/>
          <p:cNvSpPr txBox="1"/>
          <p:nvPr/>
        </p:nvSpPr>
        <p:spPr>
          <a:xfrm>
            <a:off x="3383280" y="1143000"/>
            <a:ext cx="2377440" cy="274320"/>
          </a:xfrm>
          <a:prstGeom prst="rect">
            <a:avLst/>
          </a:prstGeom>
          <a:noFill/>
          <a:ln/>
        </p:spPr>
        <p:txBody>
          <a:bodyPr wrap="square" lIns="0" tIns="0" rIns="0" bIns="0" rtlCol="0" anchor="t"/>
          <a:lstStyle/>
          <a:p>
            <a:pPr indent="0" marL="0">
              <a:buNone/>
            </a:pPr>
            <a:r>
              <a:rPr lang="en-US" sz="1300" b="1" dirty="0">
                <a:solidFill>
                  <a:srgbClr val="1F2A44"/>
                </a:solidFill>
              </a:rPr>
              <a:t>Documented formula</a:t>
            </a:r>
            <a:endParaRPr lang="en-US" sz="1300" dirty="0"/>
          </a:p>
        </p:txBody>
      </p:sp>
      <p:sp>
        <p:nvSpPr>
          <p:cNvPr id="8" name="Text 6"/>
          <p:cNvSpPr txBox="1"/>
          <p:nvPr/>
        </p:nvSpPr>
        <p:spPr>
          <a:xfrm>
            <a:off x="3383280" y="1463040"/>
            <a:ext cx="2377440" cy="365760"/>
          </a:xfrm>
          <a:prstGeom prst="rect">
            <a:avLst/>
          </a:prstGeom>
          <a:noFill/>
          <a:ln/>
        </p:spPr>
        <p:txBody>
          <a:bodyPr wrap="square" lIns="0" tIns="0" rIns="0" bIns="0" rtlCol="0" anchor="t"/>
          <a:lstStyle/>
          <a:p>
            <a:pPr indent="0" marL="0">
              <a:buNone/>
            </a:pPr>
            <a:r>
              <a:rPr lang="en-US" sz="1100" dirty="0">
                <a:solidFill>
                  <a:srgbClr val="5E6A73"/>
                </a:solidFill>
              </a:rPr>
              <a:t>Explainable, tested scores</a:t>
            </a:r>
            <a:endParaRPr lang="en-US" sz="1100" dirty="0"/>
          </a:p>
        </p:txBody>
      </p:sp>
      <p:sp>
        <p:nvSpPr>
          <p:cNvPr id="9" name="Shape 7"/>
          <p:cNvSpPr/>
          <p:nvPr/>
        </p:nvSpPr>
        <p:spPr>
          <a:xfrm>
            <a:off x="6035040" y="1051560"/>
            <a:ext cx="2651760" cy="868680"/>
          </a:xfrm>
          <a:prstGeom prst="roundRect">
            <a:avLst>
              <a:gd name="adj" fmla="val 14737"/>
            </a:avLst>
          </a:prstGeom>
          <a:solidFill>
            <a:srgbClr val="EAEEF8"/>
          </a:solidFill>
          <a:ln w="6350">
            <a:solidFill>
              <a:srgbClr val="E7E1D6"/>
            </a:solidFill>
            <a:prstDash val="solid"/>
          </a:ln>
          <a:effectLst>
            <a:outerShdw sx="100000" sy="100000" kx="0" ky="0" algn="bl" rotWithShape="0" blurRad="101600" dist="25400" dir="5400000">
              <a:srgbClr val="1F2A44">
                <a:alpha val="7000"/>
              </a:srgbClr>
            </a:outerShdw>
          </a:effectLst>
        </p:spPr>
      </p:sp>
      <p:sp>
        <p:nvSpPr>
          <p:cNvPr id="10" name="Text 8"/>
          <p:cNvSpPr txBox="1"/>
          <p:nvPr/>
        </p:nvSpPr>
        <p:spPr>
          <a:xfrm>
            <a:off x="6172200" y="1143000"/>
            <a:ext cx="2377440" cy="274320"/>
          </a:xfrm>
          <a:prstGeom prst="rect">
            <a:avLst/>
          </a:prstGeom>
          <a:noFill/>
          <a:ln/>
        </p:spPr>
        <p:txBody>
          <a:bodyPr wrap="square" lIns="0" tIns="0" rIns="0" bIns="0" rtlCol="0" anchor="t"/>
          <a:lstStyle/>
          <a:p>
            <a:pPr indent="0" marL="0">
              <a:buNone/>
            </a:pPr>
            <a:r>
              <a:rPr lang="en-US" sz="1300" b="1" dirty="0">
                <a:solidFill>
                  <a:srgbClr val="1F2A44"/>
                </a:solidFill>
              </a:rPr>
              <a:t>Validation report</a:t>
            </a:r>
            <a:endParaRPr lang="en-US" sz="1300" dirty="0"/>
          </a:p>
        </p:txBody>
      </p:sp>
      <p:sp>
        <p:nvSpPr>
          <p:cNvPr id="11" name="Text 9"/>
          <p:cNvSpPr txBox="1"/>
          <p:nvPr/>
        </p:nvSpPr>
        <p:spPr>
          <a:xfrm>
            <a:off x="6172200" y="1463040"/>
            <a:ext cx="2377440" cy="365760"/>
          </a:xfrm>
          <a:prstGeom prst="rect">
            <a:avLst/>
          </a:prstGeom>
          <a:noFill/>
          <a:ln/>
        </p:spPr>
        <p:txBody>
          <a:bodyPr wrap="square" lIns="0" tIns="0" rIns="0" bIns="0" rtlCol="0" anchor="t"/>
          <a:lstStyle/>
          <a:p>
            <a:pPr indent="0" marL="0">
              <a:buNone/>
            </a:pPr>
            <a:r>
              <a:rPr lang="en-US" sz="1100" dirty="0">
                <a:solidFill>
                  <a:srgbClr val="5E6A73"/>
                </a:solidFill>
              </a:rPr>
              <a:t>Sensitivity and back-test results</a:t>
            </a:r>
            <a:endParaRPr lang="en-US" sz="1100" dirty="0"/>
          </a:p>
        </p:txBody>
      </p:sp>
      <p:sp>
        <p:nvSpPr>
          <p:cNvPr id="12" name="Text 10"/>
          <p:cNvSpPr txBox="1"/>
          <p:nvPr/>
        </p:nvSpPr>
        <p:spPr>
          <a:xfrm>
            <a:off x="457200" y="2148840"/>
            <a:ext cx="3657600" cy="274320"/>
          </a:xfrm>
          <a:prstGeom prst="rect">
            <a:avLst/>
          </a:prstGeom>
          <a:noFill/>
          <a:ln/>
        </p:spPr>
        <p:txBody>
          <a:bodyPr wrap="square" lIns="0" tIns="0" rIns="0" bIns="0" rtlCol="0" anchor="t"/>
          <a:lstStyle/>
          <a:p>
            <a:pPr indent="0" marL="0">
              <a:buNone/>
            </a:pPr>
            <a:r>
              <a:rPr lang="en-US" sz="1200" b="1" dirty="0">
                <a:solidFill>
                  <a:srgbClr val="E4572E"/>
                </a:solidFill>
              </a:rPr>
              <a:t>FUTURE SCOPE</a:t>
            </a:r>
            <a:endParaRPr lang="en-US" sz="1200" dirty="0"/>
          </a:p>
        </p:txBody>
      </p:sp>
      <p:sp>
        <p:nvSpPr>
          <p:cNvPr id="13" name="Text 11"/>
          <p:cNvSpPr txBox="1"/>
          <p:nvPr/>
        </p:nvSpPr>
        <p:spPr>
          <a:xfrm>
            <a:off x="457200" y="2468880"/>
            <a:ext cx="457200" cy="292608"/>
          </a:xfrm>
          <a:prstGeom prst="rect">
            <a:avLst/>
          </a:prstGeom>
          <a:noFill/>
          <a:ln/>
        </p:spPr>
        <p:txBody>
          <a:bodyPr wrap="square" lIns="0" tIns="0" rIns="0" bIns="0" rtlCol="0" anchor="t"/>
          <a:lstStyle/>
          <a:p>
            <a:pPr indent="0" marL="0">
              <a:buNone/>
            </a:pPr>
            <a:r>
              <a:rPr lang="en-US" sz="1500" b="1" dirty="0">
                <a:solidFill>
                  <a:srgbClr val="3B5BA5"/>
                </a:solidFill>
                <a:latin typeface="Georgia" pitchFamily="34" charset="0"/>
                <a:ea typeface="Georgia" pitchFamily="34" charset="-122"/>
                <a:cs typeface="Georgia" pitchFamily="34" charset="-120"/>
              </a:rPr>
              <a:t>01</a:t>
            </a:r>
            <a:endParaRPr lang="en-US" sz="1500" dirty="0"/>
          </a:p>
        </p:txBody>
      </p:sp>
      <p:sp>
        <p:nvSpPr>
          <p:cNvPr id="14" name="Text 12"/>
          <p:cNvSpPr txBox="1"/>
          <p:nvPr/>
        </p:nvSpPr>
        <p:spPr>
          <a:xfrm>
            <a:off x="914400" y="2468880"/>
            <a:ext cx="7772400" cy="292608"/>
          </a:xfrm>
          <a:prstGeom prst="rect">
            <a:avLst/>
          </a:prstGeom>
          <a:noFill/>
          <a:ln/>
        </p:spPr>
        <p:txBody>
          <a:bodyPr wrap="square" lIns="0" tIns="0" rIns="0" bIns="0" rtlCol="0" anchor="ctr"/>
          <a:lstStyle/>
          <a:p>
            <a:pPr indent="0" marL="0">
              <a:buNone/>
            </a:pPr>
            <a:r>
              <a:rPr lang="en-US" sz="1200" dirty="0">
                <a:solidFill>
                  <a:srgbClr val="22283A"/>
                </a:solidFill>
              </a:rPr>
              <a:t>Freelance scout network and on-ground verified listings</a:t>
            </a:r>
            <a:endParaRPr lang="en-US" sz="1200" dirty="0"/>
          </a:p>
        </p:txBody>
      </p:sp>
      <p:sp>
        <p:nvSpPr>
          <p:cNvPr id="15" name="Text 13"/>
          <p:cNvSpPr txBox="1"/>
          <p:nvPr/>
        </p:nvSpPr>
        <p:spPr>
          <a:xfrm>
            <a:off x="457200" y="2834640"/>
            <a:ext cx="457200" cy="292608"/>
          </a:xfrm>
          <a:prstGeom prst="rect">
            <a:avLst/>
          </a:prstGeom>
          <a:noFill/>
          <a:ln/>
        </p:spPr>
        <p:txBody>
          <a:bodyPr wrap="square" lIns="0" tIns="0" rIns="0" bIns="0" rtlCol="0" anchor="t"/>
          <a:lstStyle/>
          <a:p>
            <a:pPr indent="0" marL="0">
              <a:buNone/>
            </a:pPr>
            <a:r>
              <a:rPr lang="en-US" sz="1500" b="1" dirty="0">
                <a:solidFill>
                  <a:srgbClr val="3B5BA5"/>
                </a:solidFill>
                <a:latin typeface="Georgia" pitchFamily="34" charset="0"/>
                <a:ea typeface="Georgia" pitchFamily="34" charset="-122"/>
                <a:cs typeface="Georgia" pitchFamily="34" charset="-120"/>
              </a:rPr>
              <a:t>02</a:t>
            </a:r>
            <a:endParaRPr lang="en-US" sz="1500" dirty="0"/>
          </a:p>
        </p:txBody>
      </p:sp>
      <p:sp>
        <p:nvSpPr>
          <p:cNvPr id="16" name="Text 14"/>
          <p:cNvSpPr txBox="1"/>
          <p:nvPr/>
        </p:nvSpPr>
        <p:spPr>
          <a:xfrm>
            <a:off x="914400" y="2834640"/>
            <a:ext cx="7772400" cy="292608"/>
          </a:xfrm>
          <a:prstGeom prst="rect">
            <a:avLst/>
          </a:prstGeom>
          <a:noFill/>
          <a:ln/>
        </p:spPr>
        <p:txBody>
          <a:bodyPr wrap="square" lIns="0" tIns="0" rIns="0" bIns="0" rtlCol="0" anchor="ctr"/>
          <a:lstStyle/>
          <a:p>
            <a:pPr indent="0" marL="0">
              <a:buNone/>
            </a:pPr>
            <a:r>
              <a:rPr lang="en-US" sz="1200" dirty="0">
                <a:solidFill>
                  <a:srgbClr val="22283A"/>
                </a:solidFill>
              </a:rPr>
              <a:t>Travel-time distances and expressway access-point logic</a:t>
            </a:r>
            <a:endParaRPr lang="en-US" sz="1200" dirty="0"/>
          </a:p>
        </p:txBody>
      </p:sp>
      <p:sp>
        <p:nvSpPr>
          <p:cNvPr id="17" name="Text 15"/>
          <p:cNvSpPr txBox="1"/>
          <p:nvPr/>
        </p:nvSpPr>
        <p:spPr>
          <a:xfrm>
            <a:off x="457200" y="3200400"/>
            <a:ext cx="457200" cy="292608"/>
          </a:xfrm>
          <a:prstGeom prst="rect">
            <a:avLst/>
          </a:prstGeom>
          <a:noFill/>
          <a:ln/>
        </p:spPr>
        <p:txBody>
          <a:bodyPr wrap="square" lIns="0" tIns="0" rIns="0" bIns="0" rtlCol="0" anchor="t"/>
          <a:lstStyle/>
          <a:p>
            <a:pPr indent="0" marL="0">
              <a:buNone/>
            </a:pPr>
            <a:r>
              <a:rPr lang="en-US" sz="1500" b="1" dirty="0">
                <a:solidFill>
                  <a:srgbClr val="3B5BA5"/>
                </a:solidFill>
                <a:latin typeface="Georgia" pitchFamily="34" charset="0"/>
                <a:ea typeface="Georgia" pitchFamily="34" charset="-122"/>
                <a:cs typeface="Georgia" pitchFamily="34" charset="-120"/>
              </a:rPr>
              <a:t>03</a:t>
            </a:r>
            <a:endParaRPr lang="en-US" sz="1500" dirty="0"/>
          </a:p>
        </p:txBody>
      </p:sp>
      <p:sp>
        <p:nvSpPr>
          <p:cNvPr id="18" name="Text 16"/>
          <p:cNvSpPr txBox="1"/>
          <p:nvPr/>
        </p:nvSpPr>
        <p:spPr>
          <a:xfrm>
            <a:off x="914400" y="3200400"/>
            <a:ext cx="7772400" cy="292608"/>
          </a:xfrm>
          <a:prstGeom prst="rect">
            <a:avLst/>
          </a:prstGeom>
          <a:noFill/>
          <a:ln/>
        </p:spPr>
        <p:txBody>
          <a:bodyPr wrap="square" lIns="0" tIns="0" rIns="0" bIns="0" rtlCol="0" anchor="ctr"/>
          <a:lstStyle/>
          <a:p>
            <a:pPr indent="0" marL="0">
              <a:buNone/>
            </a:pPr>
            <a:r>
              <a:rPr lang="en-US" sz="1200" dirty="0">
                <a:solidFill>
                  <a:srgbClr val="22283A"/>
                </a:solidFill>
              </a:rPr>
              <a:t>Calibration with IGR transaction data and regression</a:t>
            </a:r>
            <a:endParaRPr lang="en-US" sz="1200" dirty="0"/>
          </a:p>
        </p:txBody>
      </p:sp>
      <p:sp>
        <p:nvSpPr>
          <p:cNvPr id="19" name="Text 17"/>
          <p:cNvSpPr txBox="1"/>
          <p:nvPr/>
        </p:nvSpPr>
        <p:spPr>
          <a:xfrm>
            <a:off x="457200" y="3566160"/>
            <a:ext cx="457200" cy="292608"/>
          </a:xfrm>
          <a:prstGeom prst="rect">
            <a:avLst/>
          </a:prstGeom>
          <a:noFill/>
          <a:ln/>
        </p:spPr>
        <p:txBody>
          <a:bodyPr wrap="square" lIns="0" tIns="0" rIns="0" bIns="0" rtlCol="0" anchor="t"/>
          <a:lstStyle/>
          <a:p>
            <a:pPr indent="0" marL="0">
              <a:buNone/>
            </a:pPr>
            <a:r>
              <a:rPr lang="en-US" sz="1500" b="1" dirty="0">
                <a:solidFill>
                  <a:srgbClr val="3B5BA5"/>
                </a:solidFill>
                <a:latin typeface="Georgia" pitchFamily="34" charset="0"/>
                <a:ea typeface="Georgia" pitchFamily="34" charset="-122"/>
                <a:cs typeface="Georgia" pitchFamily="34" charset="-120"/>
              </a:rPr>
              <a:t>04</a:t>
            </a:r>
            <a:endParaRPr lang="en-US" sz="1500" dirty="0"/>
          </a:p>
        </p:txBody>
      </p:sp>
      <p:sp>
        <p:nvSpPr>
          <p:cNvPr id="20" name="Text 18"/>
          <p:cNvSpPr txBox="1"/>
          <p:nvPr/>
        </p:nvSpPr>
        <p:spPr>
          <a:xfrm>
            <a:off x="914400" y="3566160"/>
            <a:ext cx="7772400" cy="292608"/>
          </a:xfrm>
          <a:prstGeom prst="rect">
            <a:avLst/>
          </a:prstGeom>
          <a:noFill/>
          <a:ln/>
        </p:spPr>
        <p:txBody>
          <a:bodyPr wrap="square" lIns="0" tIns="0" rIns="0" bIns="0" rtlCol="0" anchor="ctr"/>
          <a:lstStyle/>
          <a:p>
            <a:pPr indent="0" marL="0">
              <a:buNone/>
            </a:pPr>
            <a:r>
              <a:rPr lang="en-US" sz="1200" dirty="0">
                <a:solidFill>
                  <a:srgbClr val="22283A"/>
                </a:solidFill>
              </a:rPr>
              <a:t>Data/API access for portals, banks and NBFCs</a:t>
            </a:r>
            <a:endParaRPr lang="en-US" sz="1200" dirty="0"/>
          </a:p>
        </p:txBody>
      </p:sp>
      <p:sp>
        <p:nvSpPr>
          <p:cNvPr id="21" name="Text 19"/>
          <p:cNvSpPr txBox="1"/>
          <p:nvPr/>
        </p:nvSpPr>
        <p:spPr>
          <a:xfrm>
            <a:off x="457200" y="3931920"/>
            <a:ext cx="457200" cy="292608"/>
          </a:xfrm>
          <a:prstGeom prst="rect">
            <a:avLst/>
          </a:prstGeom>
          <a:noFill/>
          <a:ln/>
        </p:spPr>
        <p:txBody>
          <a:bodyPr wrap="square" lIns="0" tIns="0" rIns="0" bIns="0" rtlCol="0" anchor="t"/>
          <a:lstStyle/>
          <a:p>
            <a:pPr indent="0" marL="0">
              <a:buNone/>
            </a:pPr>
            <a:r>
              <a:rPr lang="en-US" sz="1500" b="1" dirty="0">
                <a:solidFill>
                  <a:srgbClr val="3B5BA5"/>
                </a:solidFill>
                <a:latin typeface="Georgia" pitchFamily="34" charset="0"/>
                <a:ea typeface="Georgia" pitchFamily="34" charset="-122"/>
                <a:cs typeface="Georgia" pitchFamily="34" charset="-120"/>
              </a:rPr>
              <a:t>05</a:t>
            </a:r>
            <a:endParaRPr lang="en-US" sz="1500" dirty="0"/>
          </a:p>
        </p:txBody>
      </p:sp>
      <p:sp>
        <p:nvSpPr>
          <p:cNvPr id="22" name="Text 20"/>
          <p:cNvSpPr txBox="1"/>
          <p:nvPr/>
        </p:nvSpPr>
        <p:spPr>
          <a:xfrm>
            <a:off x="914400" y="3931920"/>
            <a:ext cx="7772400" cy="292608"/>
          </a:xfrm>
          <a:prstGeom prst="rect">
            <a:avLst/>
          </a:prstGeom>
          <a:noFill/>
          <a:ln/>
        </p:spPr>
        <p:txBody>
          <a:bodyPr wrap="square" lIns="0" tIns="0" rIns="0" bIns="0" rtlCol="0" anchor="ctr"/>
          <a:lstStyle/>
          <a:p>
            <a:pPr indent="0" marL="0">
              <a:buNone/>
            </a:pPr>
            <a:r>
              <a:rPr lang="en-US" sz="1200" dirty="0">
                <a:solidFill>
                  <a:srgbClr val="22283A"/>
                </a:solidFill>
              </a:rPr>
              <a:t>Expansion to other Maharashtra cities</a:t>
            </a:r>
            <a:endParaRPr lang="en-US" sz="1200" dirty="0"/>
          </a:p>
        </p:txBody>
      </p:sp>
      <p:sp>
        <p:nvSpPr>
          <p:cNvPr id="23" name="Shape 21"/>
          <p:cNvSpPr/>
          <p:nvPr/>
        </p:nvSpPr>
        <p:spPr>
          <a:xfrm>
            <a:off x="457200" y="4389120"/>
            <a:ext cx="8229600" cy="411480"/>
          </a:xfrm>
          <a:prstGeom prst="roundRect">
            <a:avLst>
              <a:gd name="adj" fmla="val 31111"/>
            </a:avLst>
          </a:prstGeom>
          <a:solidFill>
            <a:srgbClr val="1F2A44"/>
          </a:solidFill>
          <a:ln/>
        </p:spPr>
      </p:sp>
      <p:sp>
        <p:nvSpPr>
          <p:cNvPr id="24" name="Text 22"/>
          <p:cNvSpPr txBox="1"/>
          <p:nvPr/>
        </p:nvSpPr>
        <p:spPr>
          <a:xfrm>
            <a:off x="457200" y="4389120"/>
            <a:ext cx="8229600" cy="411480"/>
          </a:xfrm>
          <a:prstGeom prst="rect">
            <a:avLst/>
          </a:prstGeom>
          <a:noFill/>
          <a:ln/>
        </p:spPr>
        <p:txBody>
          <a:bodyPr wrap="square" lIns="0" tIns="0" rIns="0" bIns="0" rtlCol="0" anchor="ctr"/>
          <a:lstStyle/>
          <a:p>
            <a:pPr algn="ctr" indent="0" marL="0">
              <a:buNone/>
            </a:pPr>
            <a:r>
              <a:rPr lang="en-US" sz="1300" b="1" dirty="0">
                <a:solidFill>
                  <a:srgbClr val="FFFFFF"/>
                </a:solidFill>
              </a:rPr>
              <a:t>Thank you. Open for questions.</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A73"/>
                </a:solidFill>
              </a:defRPr>
            </a:lvl1pPr>
          </a:lstStyle>
          <a:p>
            <a:pPr algn="l"/>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ropTrack">
  <a:themeElements>
    <a:clrScheme name="PropTrack">
      <a:dk1>
        <a:srgbClr val="22283A"/>
      </a:dk1>
      <a:lt1>
        <a:srgbClr val="FFFFFF"/>
      </a:lt1>
      <a:dk2>
        <a:srgbClr val="1F2A44"/>
      </a:dk2>
      <a:lt2>
        <a:srgbClr val="FAF7F2"/>
      </a:lt2>
      <a:accent1>
        <a:srgbClr val="3B5BA5"/>
      </a:accent1>
      <a:accent2>
        <a:srgbClr val="E4572E"/>
      </a:accent2>
      <a:accent3>
        <a:srgbClr val="F2A541"/>
      </a:accent3>
      <a:accent4>
        <a:srgbClr val="7C93D6"/>
      </a:accent4>
      <a:accent5>
        <a:srgbClr val="2C3A5E"/>
      </a:accent5>
      <a:accent6>
        <a:srgbClr val="8A8F94"/>
      </a:accent6>
      <a:hlink>
        <a:srgbClr val="3B5BA5"/>
      </a:hlink>
      <a:folHlink>
        <a:srgbClr val="8A8F94"/>
      </a:folHlink>
    </a:clrScheme>
    <a:fontScheme name="PropTrack">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2026-10-08T06:37:37Z</dcterms:created>
  <dcterms:modified xsi:type="dcterms:W3CDTF">2026-10-08T06:37:37Z</dcterms:modified>
</cp:coreProperties>
</file>